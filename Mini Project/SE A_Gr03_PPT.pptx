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0071100" cy="7562850"/>
  <p:notesSz cx="100711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2251"/>
            <a:ext cx="494665" cy="3081020"/>
          </a:xfrm>
          <a:custGeom>
            <a:avLst/>
            <a:gdLst/>
            <a:ahLst/>
            <a:cxnLst/>
            <a:rect l="l" t="t" r="r" b="b"/>
            <a:pathLst>
              <a:path w="494665" h="3081020">
                <a:moveTo>
                  <a:pt x="0" y="0"/>
                </a:moveTo>
                <a:lnTo>
                  <a:pt x="0" y="3077000"/>
                </a:lnTo>
                <a:lnTo>
                  <a:pt x="194591" y="3080598"/>
                </a:lnTo>
                <a:lnTo>
                  <a:pt x="494407" y="3080598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69607" y="4825"/>
            <a:ext cx="4408170" cy="7558405"/>
          </a:xfrm>
          <a:custGeom>
            <a:avLst/>
            <a:gdLst/>
            <a:ahLst/>
            <a:cxnLst/>
            <a:rect l="l" t="t" r="r" b="b"/>
            <a:pathLst>
              <a:path w="4408170" h="7558405">
                <a:moveTo>
                  <a:pt x="0" y="7558024"/>
                </a:moveTo>
                <a:lnTo>
                  <a:pt x="4407842" y="4615660"/>
                </a:lnTo>
              </a:path>
              <a:path w="4408170" h="7558405">
                <a:moveTo>
                  <a:pt x="2098093" y="0"/>
                </a:moveTo>
                <a:lnTo>
                  <a:pt x="3439764" y="7558024"/>
                </a:lnTo>
              </a:path>
            </a:pathLst>
          </a:custGeom>
          <a:ln w="9529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591425" y="0"/>
            <a:ext cx="2486025" cy="7562850"/>
          </a:xfrm>
          <a:custGeom>
            <a:avLst/>
            <a:gdLst/>
            <a:ahLst/>
            <a:cxnLst/>
            <a:rect l="l" t="t" r="r" b="b"/>
            <a:pathLst>
              <a:path w="2486025" h="7562850">
                <a:moveTo>
                  <a:pt x="2233676" y="0"/>
                </a:moveTo>
                <a:lnTo>
                  <a:pt x="0" y="7559078"/>
                </a:lnTo>
                <a:lnTo>
                  <a:pt x="1012240" y="7562850"/>
                </a:lnTo>
                <a:lnTo>
                  <a:pt x="2486025" y="7562850"/>
                </a:lnTo>
                <a:lnTo>
                  <a:pt x="2486025" y="8942"/>
                </a:lnTo>
                <a:lnTo>
                  <a:pt x="2233676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45514" y="0"/>
            <a:ext cx="2132330" cy="7559040"/>
          </a:xfrm>
          <a:custGeom>
            <a:avLst/>
            <a:gdLst/>
            <a:ahLst/>
            <a:cxnLst/>
            <a:rect l="l" t="t" r="r" b="b"/>
            <a:pathLst>
              <a:path w="2132329" h="7559040">
                <a:moveTo>
                  <a:pt x="2131935" y="0"/>
                </a:moveTo>
                <a:lnTo>
                  <a:pt x="0" y="0"/>
                </a:lnTo>
                <a:lnTo>
                  <a:pt x="1320913" y="7558878"/>
                </a:lnTo>
                <a:lnTo>
                  <a:pt x="2131935" y="7558878"/>
                </a:lnTo>
                <a:lnTo>
                  <a:pt x="213193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15200" y="4330196"/>
            <a:ext cx="2762250" cy="3228975"/>
          </a:xfrm>
          <a:custGeom>
            <a:avLst/>
            <a:gdLst/>
            <a:ahLst/>
            <a:cxnLst/>
            <a:rect l="l" t="t" r="r" b="b"/>
            <a:pathLst>
              <a:path w="2762250" h="3228975">
                <a:moveTo>
                  <a:pt x="2762250" y="0"/>
                </a:moveTo>
                <a:lnTo>
                  <a:pt x="0" y="3228681"/>
                </a:lnTo>
                <a:lnTo>
                  <a:pt x="2762250" y="3228681"/>
                </a:lnTo>
                <a:lnTo>
                  <a:pt x="27622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727351" y="0"/>
            <a:ext cx="2350135" cy="7559040"/>
          </a:xfrm>
          <a:custGeom>
            <a:avLst/>
            <a:gdLst/>
            <a:ahLst/>
            <a:cxnLst/>
            <a:rect l="l" t="t" r="r" b="b"/>
            <a:pathLst>
              <a:path w="2350134" h="7559040">
                <a:moveTo>
                  <a:pt x="2350099" y="0"/>
                </a:moveTo>
                <a:lnTo>
                  <a:pt x="0" y="0"/>
                </a:lnTo>
                <a:lnTo>
                  <a:pt x="2044156" y="7558878"/>
                </a:lnTo>
                <a:lnTo>
                  <a:pt x="2350099" y="7549828"/>
                </a:lnTo>
                <a:lnTo>
                  <a:pt x="235009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4000" y="0"/>
            <a:ext cx="933450" cy="7559040"/>
          </a:xfrm>
          <a:custGeom>
            <a:avLst/>
            <a:gdLst/>
            <a:ahLst/>
            <a:cxnLst/>
            <a:rect l="l" t="t" r="r" b="b"/>
            <a:pathLst>
              <a:path w="933450" h="7559040">
                <a:moveTo>
                  <a:pt x="933450" y="0"/>
                </a:moveTo>
                <a:lnTo>
                  <a:pt x="743537" y="0"/>
                </a:lnTo>
                <a:lnTo>
                  <a:pt x="0" y="7558878"/>
                </a:lnTo>
                <a:lnTo>
                  <a:pt x="933450" y="7558878"/>
                </a:lnTo>
                <a:lnTo>
                  <a:pt x="933450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926222" y="0"/>
            <a:ext cx="1151255" cy="7559040"/>
          </a:xfrm>
          <a:custGeom>
            <a:avLst/>
            <a:gdLst/>
            <a:ahLst/>
            <a:cxnLst/>
            <a:rect l="l" t="t" r="r" b="b"/>
            <a:pathLst>
              <a:path w="1151254" h="7559040">
                <a:moveTo>
                  <a:pt x="1151227" y="0"/>
                </a:moveTo>
                <a:lnTo>
                  <a:pt x="0" y="0"/>
                </a:lnTo>
                <a:lnTo>
                  <a:pt x="1029434" y="7558878"/>
                </a:lnTo>
                <a:lnTo>
                  <a:pt x="1151227" y="7558878"/>
                </a:lnTo>
                <a:lnTo>
                  <a:pt x="1151227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96350" y="5419471"/>
            <a:ext cx="1181100" cy="2139950"/>
          </a:xfrm>
          <a:custGeom>
            <a:avLst/>
            <a:gdLst/>
            <a:ahLst/>
            <a:cxnLst/>
            <a:rect l="l" t="t" r="r" b="b"/>
            <a:pathLst>
              <a:path w="1181100" h="2139950">
                <a:moveTo>
                  <a:pt x="1181100" y="0"/>
                </a:moveTo>
                <a:lnTo>
                  <a:pt x="0" y="2139406"/>
                </a:lnTo>
                <a:lnTo>
                  <a:pt x="1181100" y="2133889"/>
                </a:lnTo>
                <a:lnTo>
                  <a:pt x="118110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979" y="293900"/>
            <a:ext cx="3129917" cy="4551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0855" y="138747"/>
            <a:ext cx="314960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1617" y="4235196"/>
            <a:ext cx="7054215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3872" y="1739455"/>
            <a:ext cx="43836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9886" y="1739455"/>
            <a:ext cx="4383691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2251"/>
            <a:ext cx="494665" cy="3081020"/>
          </a:xfrm>
          <a:custGeom>
            <a:avLst/>
            <a:gdLst/>
            <a:ahLst/>
            <a:cxnLst/>
            <a:rect l="l" t="t" r="r" b="b"/>
            <a:pathLst>
              <a:path w="494665" h="3081020">
                <a:moveTo>
                  <a:pt x="0" y="0"/>
                </a:moveTo>
                <a:lnTo>
                  <a:pt x="0" y="3077000"/>
                </a:lnTo>
                <a:lnTo>
                  <a:pt x="194591" y="3080598"/>
                </a:lnTo>
                <a:lnTo>
                  <a:pt x="494407" y="3080598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669607" y="4825"/>
            <a:ext cx="4408170" cy="7558405"/>
          </a:xfrm>
          <a:custGeom>
            <a:avLst/>
            <a:gdLst/>
            <a:ahLst/>
            <a:cxnLst/>
            <a:rect l="l" t="t" r="r" b="b"/>
            <a:pathLst>
              <a:path w="4408170" h="7558405">
                <a:moveTo>
                  <a:pt x="0" y="7558024"/>
                </a:moveTo>
                <a:lnTo>
                  <a:pt x="4407842" y="4615660"/>
                </a:lnTo>
              </a:path>
              <a:path w="4408170" h="7558405">
                <a:moveTo>
                  <a:pt x="2098093" y="0"/>
                </a:moveTo>
                <a:lnTo>
                  <a:pt x="3439764" y="7558024"/>
                </a:lnTo>
              </a:path>
            </a:pathLst>
          </a:custGeom>
          <a:ln w="9529">
            <a:solidFill>
              <a:srgbClr val="5FCAE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591425" y="0"/>
            <a:ext cx="2486025" cy="7562850"/>
          </a:xfrm>
          <a:custGeom>
            <a:avLst/>
            <a:gdLst/>
            <a:ahLst/>
            <a:cxnLst/>
            <a:rect l="l" t="t" r="r" b="b"/>
            <a:pathLst>
              <a:path w="2486025" h="7562850">
                <a:moveTo>
                  <a:pt x="2233676" y="0"/>
                </a:moveTo>
                <a:lnTo>
                  <a:pt x="0" y="7559078"/>
                </a:lnTo>
                <a:lnTo>
                  <a:pt x="1012240" y="7562850"/>
                </a:lnTo>
                <a:lnTo>
                  <a:pt x="2486025" y="7562850"/>
                </a:lnTo>
                <a:lnTo>
                  <a:pt x="2486025" y="8942"/>
                </a:lnTo>
                <a:lnTo>
                  <a:pt x="2233676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945514" y="0"/>
            <a:ext cx="2132330" cy="7559040"/>
          </a:xfrm>
          <a:custGeom>
            <a:avLst/>
            <a:gdLst/>
            <a:ahLst/>
            <a:cxnLst/>
            <a:rect l="l" t="t" r="r" b="b"/>
            <a:pathLst>
              <a:path w="2132329" h="7559040">
                <a:moveTo>
                  <a:pt x="2131935" y="0"/>
                </a:moveTo>
                <a:lnTo>
                  <a:pt x="0" y="0"/>
                </a:lnTo>
                <a:lnTo>
                  <a:pt x="1320913" y="7558878"/>
                </a:lnTo>
                <a:lnTo>
                  <a:pt x="2131935" y="7558878"/>
                </a:lnTo>
                <a:lnTo>
                  <a:pt x="2131935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315200" y="4330196"/>
            <a:ext cx="2762250" cy="3228975"/>
          </a:xfrm>
          <a:custGeom>
            <a:avLst/>
            <a:gdLst/>
            <a:ahLst/>
            <a:cxnLst/>
            <a:rect l="l" t="t" r="r" b="b"/>
            <a:pathLst>
              <a:path w="2762250" h="3228975">
                <a:moveTo>
                  <a:pt x="2762250" y="0"/>
                </a:moveTo>
                <a:lnTo>
                  <a:pt x="0" y="3228681"/>
                </a:lnTo>
                <a:lnTo>
                  <a:pt x="2762250" y="3228681"/>
                </a:lnTo>
                <a:lnTo>
                  <a:pt x="27622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727351" y="0"/>
            <a:ext cx="2350135" cy="7559040"/>
          </a:xfrm>
          <a:custGeom>
            <a:avLst/>
            <a:gdLst/>
            <a:ahLst/>
            <a:cxnLst/>
            <a:rect l="l" t="t" r="r" b="b"/>
            <a:pathLst>
              <a:path w="2350134" h="7559040">
                <a:moveTo>
                  <a:pt x="2350099" y="0"/>
                </a:moveTo>
                <a:lnTo>
                  <a:pt x="0" y="0"/>
                </a:lnTo>
                <a:lnTo>
                  <a:pt x="2044156" y="7558878"/>
                </a:lnTo>
                <a:lnTo>
                  <a:pt x="2350099" y="7549828"/>
                </a:lnTo>
                <a:lnTo>
                  <a:pt x="235009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4000" y="0"/>
            <a:ext cx="933450" cy="7559040"/>
          </a:xfrm>
          <a:custGeom>
            <a:avLst/>
            <a:gdLst/>
            <a:ahLst/>
            <a:cxnLst/>
            <a:rect l="l" t="t" r="r" b="b"/>
            <a:pathLst>
              <a:path w="933450" h="7559040">
                <a:moveTo>
                  <a:pt x="933450" y="0"/>
                </a:moveTo>
                <a:lnTo>
                  <a:pt x="743537" y="0"/>
                </a:lnTo>
                <a:lnTo>
                  <a:pt x="0" y="7558878"/>
                </a:lnTo>
                <a:lnTo>
                  <a:pt x="933450" y="7558878"/>
                </a:lnTo>
                <a:lnTo>
                  <a:pt x="933450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926222" y="0"/>
            <a:ext cx="1151255" cy="7559040"/>
          </a:xfrm>
          <a:custGeom>
            <a:avLst/>
            <a:gdLst/>
            <a:ahLst/>
            <a:cxnLst/>
            <a:rect l="l" t="t" r="r" b="b"/>
            <a:pathLst>
              <a:path w="1151254" h="7559040">
                <a:moveTo>
                  <a:pt x="1151227" y="0"/>
                </a:moveTo>
                <a:lnTo>
                  <a:pt x="0" y="0"/>
                </a:lnTo>
                <a:lnTo>
                  <a:pt x="1029434" y="7558878"/>
                </a:lnTo>
                <a:lnTo>
                  <a:pt x="1151227" y="7558878"/>
                </a:lnTo>
                <a:lnTo>
                  <a:pt x="1151227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8896350" y="5419471"/>
            <a:ext cx="1181100" cy="2139950"/>
          </a:xfrm>
          <a:custGeom>
            <a:avLst/>
            <a:gdLst/>
            <a:ahLst/>
            <a:cxnLst/>
            <a:rect l="l" t="t" r="r" b="b"/>
            <a:pathLst>
              <a:path w="1181100" h="2139950">
                <a:moveTo>
                  <a:pt x="1181100" y="0"/>
                </a:moveTo>
                <a:lnTo>
                  <a:pt x="0" y="2139406"/>
                </a:lnTo>
                <a:lnTo>
                  <a:pt x="1181100" y="2133889"/>
                </a:lnTo>
                <a:lnTo>
                  <a:pt x="118110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0887" y="687387"/>
            <a:ext cx="857567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807" y="1511299"/>
            <a:ext cx="8374380" cy="3131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6333" y="7033450"/>
            <a:ext cx="322478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3872" y="7033450"/>
            <a:ext cx="2317813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55764" y="7033450"/>
            <a:ext cx="2317813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hyperlink" Target="https://sdgs.un.org/goals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04911"/>
            <a:ext cx="10077450" cy="138430"/>
            <a:chOff x="0" y="1704911"/>
            <a:chExt cx="10077450" cy="138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04911"/>
              <a:ext cx="10077450" cy="1381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62" y="1736465"/>
              <a:ext cx="10073005" cy="26034"/>
            </a:xfrm>
            <a:custGeom>
              <a:avLst/>
              <a:gdLst/>
              <a:ahLst/>
              <a:cxnLst/>
              <a:rect l="l" t="t" r="r" b="b"/>
              <a:pathLst>
                <a:path w="10073005" h="26035">
                  <a:moveTo>
                    <a:pt x="10072687" y="0"/>
                  </a:moveTo>
                  <a:lnTo>
                    <a:pt x="0" y="0"/>
                  </a:lnTo>
                  <a:lnTo>
                    <a:pt x="0" y="25410"/>
                  </a:lnTo>
                  <a:lnTo>
                    <a:pt x="10072687" y="25410"/>
                  </a:lnTo>
                  <a:lnTo>
                    <a:pt x="1007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775" y="181102"/>
            <a:ext cx="7696200" cy="13726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7075" y="3204844"/>
            <a:ext cx="7444105" cy="4057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Times New Roman"/>
                <a:cs typeface="Times New Roman"/>
              </a:rPr>
              <a:t>Theme-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u="sng" sz="2400" b="1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SDG</a:t>
            </a:r>
            <a:r>
              <a:rPr dirty="0" u="sng" sz="2400" spc="-15" b="1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2400" b="1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Goals</a:t>
            </a:r>
            <a:r>
              <a:rPr dirty="0" sz="2400" spc="10" b="1">
                <a:solidFill>
                  <a:srgbClr val="3ECDE7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 4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(Quality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Education),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10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(Reduced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dirty="0" sz="2400" spc="-10">
                <a:latin typeface="Times New Roman"/>
                <a:cs typeface="Times New Roman"/>
              </a:rPr>
              <a:t>inequality)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24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Times New Roman"/>
                <a:cs typeface="Times New Roman"/>
              </a:rPr>
              <a:t>Category-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Software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Times New Roman"/>
                <a:cs typeface="Times New Roman"/>
              </a:rPr>
              <a:t>Group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No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-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03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Times New Roman"/>
                <a:cs typeface="Times New Roman"/>
              </a:rPr>
              <a:t>Group</a:t>
            </a:r>
            <a:r>
              <a:rPr dirty="0" sz="2400" spc="-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Members-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Dipika,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Pritesh,</a:t>
            </a:r>
            <a:r>
              <a:rPr dirty="0" sz="2400" spc="-1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Arnav,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Dhanashree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6545" indent="-283845">
              <a:lnSpc>
                <a:spcPct val="100000"/>
              </a:lnSpc>
              <a:buFont typeface="Arial MT"/>
              <a:buChar char="•"/>
              <a:tabLst>
                <a:tab pos="296545" algn="l"/>
              </a:tabLst>
            </a:pPr>
            <a:r>
              <a:rPr dirty="0" sz="2400" b="1">
                <a:latin typeface="Times New Roman"/>
                <a:cs typeface="Times New Roman"/>
              </a:rPr>
              <a:t>Guide-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spc="-80" b="1">
                <a:latin typeface="Times New Roman"/>
                <a:cs typeface="Times New Roman"/>
              </a:rPr>
              <a:t>Dr.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Tejashri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Kolhe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35965" y="2035238"/>
            <a:ext cx="860361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UDAAN</a:t>
            </a:r>
            <a:r>
              <a:rPr dirty="0" sz="3600" spc="-65"/>
              <a:t> </a:t>
            </a:r>
            <a:r>
              <a:rPr dirty="0" sz="3600"/>
              <a:t>–</a:t>
            </a:r>
            <a:r>
              <a:rPr dirty="0" sz="3600" spc="-35"/>
              <a:t> </a:t>
            </a:r>
            <a:r>
              <a:rPr dirty="0" sz="3600"/>
              <a:t>Rural</a:t>
            </a:r>
            <a:r>
              <a:rPr dirty="0" sz="3600" spc="-55"/>
              <a:t> </a:t>
            </a:r>
            <a:r>
              <a:rPr dirty="0" sz="3600"/>
              <a:t>Career</a:t>
            </a:r>
            <a:r>
              <a:rPr dirty="0" sz="3600" spc="-125"/>
              <a:t> </a:t>
            </a:r>
            <a:r>
              <a:rPr dirty="0" sz="3600"/>
              <a:t>Guidance</a:t>
            </a:r>
            <a:r>
              <a:rPr dirty="0" sz="3600" spc="-50"/>
              <a:t> </a:t>
            </a:r>
            <a:r>
              <a:rPr dirty="0" sz="3600" spc="-10"/>
              <a:t>Platform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3870" y="214248"/>
            <a:ext cx="149479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Outline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0392" y="919988"/>
            <a:ext cx="4515485" cy="553212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57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Literature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Survey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0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5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10">
                <a:latin typeface="Times New Roman"/>
                <a:cs typeface="Times New Roman"/>
              </a:rPr>
              <a:t> systems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Problem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34645" algn="l"/>
              </a:tabLst>
            </a:pPr>
            <a:r>
              <a:rPr dirty="0" sz="2400">
                <a:latin typeface="Times New Roman"/>
                <a:cs typeface="Times New Roman"/>
              </a:rPr>
              <a:t>Proposed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0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Experimental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Setup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Implementation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0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Results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>
                <a:latin typeface="Times New Roman"/>
                <a:cs typeface="Times New Roman"/>
              </a:rPr>
              <a:t>Conclusion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Future </a:t>
            </a:r>
            <a:r>
              <a:rPr dirty="0" sz="2400" spc="-20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 marL="335280" indent="-322580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35280" algn="l"/>
              </a:tabLst>
            </a:pPr>
            <a:r>
              <a:rPr dirty="0" sz="2400" spc="-1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638" y="655850"/>
            <a:ext cx="2491773" cy="3602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0097" y="502602"/>
            <a:ext cx="250888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Introduction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91807" y="1656333"/>
            <a:ext cx="5989955" cy="21482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dirty="0" sz="2400" spc="-10" b="1">
                <a:latin typeface="Times New Roman"/>
                <a:cs typeface="Times New Roman"/>
              </a:rPr>
              <a:t>Background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Rural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students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lack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career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guidance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Limited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awareness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modern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career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options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Poor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professional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mentorship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07" y="4729479"/>
            <a:ext cx="5509895" cy="2157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dirty="0" sz="2400" spc="-10" b="1">
                <a:latin typeface="Times New Roman"/>
                <a:cs typeface="Times New Roman"/>
              </a:rPr>
              <a:t>Importance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Career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decisions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impact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long-term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growth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Proper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guidance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reduces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unemployment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Supports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inclusive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education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(SDG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4)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997" rIns="0" bIns="0" rtlCol="0" vert="horz">
            <a:spAutoFit/>
          </a:bodyPr>
          <a:lstStyle/>
          <a:p>
            <a:pPr marL="516255">
              <a:lnSpc>
                <a:spcPct val="100000"/>
              </a:lnSpc>
              <a:spcBef>
                <a:spcPts val="105"/>
              </a:spcBef>
            </a:pPr>
            <a:r>
              <a:rPr dirty="0" sz="2400"/>
              <a:t>Current</a:t>
            </a:r>
            <a:r>
              <a:rPr dirty="0" sz="2400" spc="-135"/>
              <a:t> </a:t>
            </a:r>
            <a:r>
              <a:rPr dirty="0" sz="2400" spc="-10"/>
              <a:t>Challenges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50887" y="1582864"/>
            <a:ext cx="3355340" cy="1743710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5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Information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gap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rural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areas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Confusion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selection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Language</a:t>
            </a:r>
            <a:r>
              <a:rPr dirty="0" sz="1850" spc="15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barriers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Lack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personalized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guidance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887" y="4293235"/>
            <a:ext cx="4591685" cy="2115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16255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Times New Roman"/>
                <a:cs typeface="Times New Roman"/>
              </a:rPr>
              <a:t>Motivation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(Mapped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SDG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4)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25"/>
              </a:spcBef>
            </a:pPr>
            <a:endParaRPr sz="240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Promote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equal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educational</a:t>
            </a:r>
            <a:r>
              <a:rPr dirty="0" sz="1850" spc="19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opportunities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Bridge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rural–urban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awareness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gap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Provide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affordable</a:t>
            </a:r>
            <a:r>
              <a:rPr dirty="0" sz="1850" spc="1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digital</a:t>
            </a:r>
            <a:r>
              <a:rPr dirty="0" sz="1850" spc="1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system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4760" y="925830"/>
            <a:ext cx="139192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10"/>
              <a:t>Objectives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50887" y="1727199"/>
            <a:ext cx="5782310" cy="217360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Develop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aptitude-based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system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Suggest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selection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scientifically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Provide</a:t>
            </a:r>
            <a:r>
              <a:rPr dirty="0" sz="1850" spc="-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AI-based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recommendations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Offer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5-step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Support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bilingual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interface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(English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+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Hindi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+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Marathi)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312" y="779675"/>
            <a:ext cx="3520351" cy="4456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5155" y="625157"/>
            <a:ext cx="353377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Literature</a:t>
            </a:r>
            <a:r>
              <a:rPr dirty="0" sz="3600" spc="-145"/>
              <a:t> </a:t>
            </a:r>
            <a:r>
              <a:rPr dirty="0" sz="3600" spc="-10"/>
              <a:t>Survey</a:t>
            </a:r>
            <a:endParaRPr sz="3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1144" y="1397632"/>
          <a:ext cx="8582660" cy="577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3695"/>
                <a:gridCol w="2059939"/>
                <a:gridCol w="2059939"/>
                <a:gridCol w="2059939"/>
                <a:gridCol w="690245"/>
              </a:tblGrid>
              <a:tr h="32131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Author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Year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Method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Used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dirty="0" sz="12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Result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Limitation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749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marL="5080" marR="137160">
                        <a:lnSpc>
                          <a:spcPts val="1430"/>
                        </a:lnSpc>
                        <a:spcBef>
                          <a:spcPts val="844"/>
                        </a:spcBef>
                      </a:pPr>
                      <a:r>
                        <a:rPr dirty="0" sz="1200" spc="-125">
                          <a:latin typeface="Trebuchet MS"/>
                          <a:cs typeface="Trebuchet MS"/>
                        </a:rPr>
                        <a:t>P.</a:t>
                      </a:r>
                      <a:r>
                        <a:rPr dirty="0" sz="12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S.</a:t>
                      </a:r>
                      <a:r>
                        <a:rPr dirty="0" sz="12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Deshpande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al.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(2024)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133350">
                        <a:lnSpc>
                          <a:spcPts val="1430"/>
                        </a:lnSpc>
                        <a:spcBef>
                          <a:spcPts val="844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AI-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driven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profile</a:t>
                      </a:r>
                      <a:r>
                        <a:rPr dirty="0" sz="12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analysis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(ML)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234950">
                        <a:lnSpc>
                          <a:spcPct val="9920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2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precision in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matching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interest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career paths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114300">
                        <a:lnSpc>
                          <a:spcPts val="1430"/>
                        </a:lnSpc>
                        <a:spcBef>
                          <a:spcPts val="844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computational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overhead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processing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73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5080" marR="71120">
                        <a:lnSpc>
                          <a:spcPts val="1430"/>
                        </a:lnSpc>
                        <a:spcBef>
                          <a:spcPts val="85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CareerPathAI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Research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Group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(2026)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67970">
                        <a:lnSpc>
                          <a:spcPts val="1430"/>
                        </a:lnSpc>
                        <a:spcBef>
                          <a:spcPts val="85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Combined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ML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models</a:t>
                      </a:r>
                      <a:r>
                        <a:rPr dirty="0" sz="12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milestone-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2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tracking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363855">
                        <a:lnSpc>
                          <a:spcPct val="99200"/>
                        </a:lnSpc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Significantly</a:t>
                      </a:r>
                      <a:r>
                        <a:rPr dirty="0" sz="12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improved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career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readiness scores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151130">
                        <a:lnSpc>
                          <a:spcPts val="1430"/>
                        </a:lnSpc>
                        <a:spcBef>
                          <a:spcPts val="85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Limited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dataset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unconventional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or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emerging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career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fields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5080" marR="196215">
                        <a:lnSpc>
                          <a:spcPts val="1430"/>
                        </a:lnSpc>
                        <a:spcBef>
                          <a:spcPts val="86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S.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K. Verma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J.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Rao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(2022)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6985" marR="325755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Integration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2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RIASEC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psychological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XGBoost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182245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Enhanced accuracy</a:t>
                      </a:r>
                      <a:r>
                        <a:rPr dirty="0" sz="12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long-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term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career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satisfaction prediction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203200">
                        <a:lnSpc>
                          <a:spcPts val="1430"/>
                        </a:lnSpc>
                        <a:spcBef>
                          <a:spcPts val="86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account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sudden</a:t>
                      </a:r>
                      <a:r>
                        <a:rPr dirty="0" sz="12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shifts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global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job</a:t>
                      </a:r>
                      <a:r>
                        <a:rPr dirty="0" sz="12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market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M.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Sharma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127635">
                        <a:lnSpc>
                          <a:spcPts val="1430"/>
                        </a:lnSpc>
                        <a:spcBef>
                          <a:spcPts val="869"/>
                        </a:spcBef>
                      </a:pPr>
                      <a:r>
                        <a:rPr dirty="0" sz="1200" spc="-20">
                          <a:latin typeface="Trebuchet MS"/>
                          <a:cs typeface="Trebuchet MS"/>
                        </a:rPr>
                        <a:t>Rule-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Expert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Systems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JSON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knowledge</a:t>
                      </a:r>
                      <a:r>
                        <a:rPr dirty="0" sz="12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bases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8890" marR="151130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Effective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performance</a:t>
                      </a:r>
                      <a:r>
                        <a:rPr dirty="0" sz="12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even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minimal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2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incomplete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user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data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220345">
                        <a:lnSpc>
                          <a:spcPts val="1430"/>
                        </a:lnSpc>
                        <a:spcBef>
                          <a:spcPts val="869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Lacks</a:t>
                      </a:r>
                      <a:r>
                        <a:rPr dirty="0" sz="12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2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capability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deep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neural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networks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33095">
                <a:tc>
                  <a:txBody>
                    <a:bodyPr/>
                    <a:lstStyle/>
                    <a:p>
                      <a:pPr marL="5080" marR="127000">
                        <a:lnSpc>
                          <a:spcPts val="1430"/>
                        </a:lnSpc>
                        <a:spcBef>
                          <a:spcPts val="119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Global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EdTech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Review (2023)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42545">
                        <a:lnSpc>
                          <a:spcPts val="1430"/>
                        </a:lnSpc>
                        <a:spcBef>
                          <a:spcPts val="119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Comparative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web-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MCQ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scoring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platforms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286385">
                        <a:lnSpc>
                          <a:spcPts val="1430"/>
                        </a:lnSpc>
                        <a:spcBef>
                          <a:spcPts val="470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Effectively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identifies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core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academic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strengths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10th/12th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students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287655">
                        <a:lnSpc>
                          <a:spcPts val="1430"/>
                        </a:lnSpc>
                        <a:spcBef>
                          <a:spcPts val="119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Fails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2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provide</a:t>
                      </a:r>
                      <a:r>
                        <a:rPr dirty="0" sz="12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detailed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post-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result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guidance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roadmaps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517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5945">
                <a:tc>
                  <a:txBody>
                    <a:bodyPr/>
                    <a:lstStyle/>
                    <a:p>
                      <a:pPr marL="5080" marR="271780">
                        <a:lnSpc>
                          <a:spcPts val="1430"/>
                        </a:lnSpc>
                        <a:spcBef>
                          <a:spcPts val="97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Rural 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Dev.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Initiative (2026)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87630">
                        <a:lnSpc>
                          <a:spcPts val="1430"/>
                        </a:lnSpc>
                        <a:spcBef>
                          <a:spcPts val="97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Mobile-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first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web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portals</a:t>
                      </a:r>
                      <a:r>
                        <a:rPr dirty="0" sz="120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information</a:t>
                      </a:r>
                      <a:r>
                        <a:rPr dirty="0" sz="12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democratization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352425">
                        <a:lnSpc>
                          <a:spcPts val="1430"/>
                        </a:lnSpc>
                        <a:spcBef>
                          <a:spcPts val="14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Successfully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bridged</a:t>
                      </a:r>
                      <a:r>
                        <a:rPr dirty="0" sz="12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information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gap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200" spc="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rural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students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301625">
                        <a:lnSpc>
                          <a:spcPts val="1430"/>
                        </a:lnSpc>
                        <a:spcBef>
                          <a:spcPts val="97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dependency on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stable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internet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connectivity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rich</a:t>
                      </a:r>
                      <a:r>
                        <a:rPr dirty="0" sz="12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media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238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3380"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H.</a:t>
                      </a:r>
                      <a:r>
                        <a:rPr dirty="0" sz="12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Gupta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(2024)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6034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Random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Forest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algorithms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automated</a:t>
                      </a:r>
                      <a:r>
                        <a:rPr dirty="0" sz="12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career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prediction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28575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Achieved</a:t>
                      </a:r>
                      <a:r>
                        <a:rPr dirty="0" sz="1200" spc="-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2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93%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accuracy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rate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stream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classification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496570">
                        <a:lnSpc>
                          <a:spcPts val="1430"/>
                        </a:lnSpc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Requires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large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amounts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2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clean,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labeled</a:t>
                      </a:r>
                      <a:r>
                        <a:rPr dirty="0" sz="120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historical</a:t>
                      </a:r>
                      <a:r>
                        <a:rPr dirty="0" sz="12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data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5080" marR="434340">
                        <a:lnSpc>
                          <a:spcPts val="1430"/>
                        </a:lnSpc>
                        <a:spcBef>
                          <a:spcPts val="905"/>
                        </a:spcBef>
                      </a:pPr>
                      <a:r>
                        <a:rPr dirty="0" sz="1200" spc="-85">
                          <a:latin typeface="Trebuchet MS"/>
                          <a:cs typeface="Trebuchet MS"/>
                        </a:rPr>
                        <a:t>V.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 Nair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B.</a:t>
                      </a:r>
                      <a:r>
                        <a:rPr dirty="0" sz="120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Joshi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(2026)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49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534670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Interactive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Roadmap Visualization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20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Search Engines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164465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engagement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compared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static counseling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227329">
                        <a:lnSpc>
                          <a:spcPts val="1430"/>
                        </a:lnSpc>
                        <a:spcBef>
                          <a:spcPts val="90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Complex</a:t>
                      </a:r>
                      <a:r>
                        <a:rPr dirty="0" sz="12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UI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can</a:t>
                      </a:r>
                      <a:r>
                        <a:rPr dirty="0" sz="12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dirty="0" sz="12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overwhelming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first-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dirty="0" sz="12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users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49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5080" marR="168910">
                        <a:lnSpc>
                          <a:spcPts val="1430"/>
                        </a:lnSpc>
                        <a:spcBef>
                          <a:spcPts val="91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Educational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Analytics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Lab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(2025)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88925">
                        <a:lnSpc>
                          <a:spcPts val="1430"/>
                        </a:lnSpc>
                        <a:spcBef>
                          <a:spcPts val="91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Skill-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gap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analysis</a:t>
                      </a:r>
                      <a:r>
                        <a:rPr dirty="0" sz="12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via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NLP-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mentoring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 marR="160655">
                        <a:lnSpc>
                          <a:spcPts val="1430"/>
                        </a:lnSpc>
                        <a:spcBef>
                          <a:spcPts val="190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Provides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clear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path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upskilling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industry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8890">
                        <a:lnSpc>
                          <a:spcPts val="1210"/>
                        </a:lnSpc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needs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459105">
                        <a:lnSpc>
                          <a:spcPts val="1430"/>
                        </a:lnSpc>
                        <a:spcBef>
                          <a:spcPts val="915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NLP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dirty="0" sz="120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struggle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diverse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regional</a:t>
                      </a:r>
                      <a:r>
                        <a:rPr dirty="0" sz="12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languages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53720">
                <a:tc>
                  <a:txBody>
                    <a:bodyPr/>
                    <a:lstStyle/>
                    <a:p>
                      <a:pPr marL="5080" marR="356870">
                        <a:lnSpc>
                          <a:spcPts val="1430"/>
                        </a:lnSpc>
                        <a:spcBef>
                          <a:spcPts val="919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Psychology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35">
                          <a:latin typeface="Trebuchet MS"/>
                          <a:cs typeface="Trebuchet MS"/>
                        </a:rPr>
                        <a:t>Tech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Journal</a:t>
                      </a:r>
                      <a:r>
                        <a:rPr dirty="0" sz="120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(2023)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27940">
                        <a:lnSpc>
                          <a:spcPts val="1430"/>
                        </a:lnSpc>
                        <a:spcBef>
                          <a:spcPts val="919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Standardized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Aptitude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testing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20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IQ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correlation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435"/>
                        </a:lnSpc>
                        <a:spcBef>
                          <a:spcPts val="145"/>
                        </a:spcBef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Proven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reduction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2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career-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8890">
                        <a:lnSpc>
                          <a:spcPts val="1430"/>
                        </a:lnSpc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choice</a:t>
                      </a:r>
                      <a:r>
                        <a:rPr dirty="0" sz="12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regret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among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early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8890">
                        <a:lnSpc>
                          <a:spcPts val="1255"/>
                        </a:lnSpc>
                      </a:pPr>
                      <a:r>
                        <a:rPr dirty="0" sz="1200" spc="-10">
                          <a:latin typeface="Trebuchet MS"/>
                          <a:cs typeface="Trebuchet MS"/>
                        </a:rPr>
                        <a:t>users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795" marR="177800">
                        <a:lnSpc>
                          <a:spcPts val="1430"/>
                        </a:lnSpc>
                        <a:spcBef>
                          <a:spcPts val="919"/>
                        </a:spcBef>
                      </a:pPr>
                      <a:r>
                        <a:rPr dirty="0" sz="1200">
                          <a:latin typeface="Trebuchet MS"/>
                          <a:cs typeface="Trebuchet MS"/>
                        </a:rPr>
                        <a:t>Relies</a:t>
                      </a:r>
                      <a:r>
                        <a:rPr dirty="0" sz="120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heavily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20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20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honesty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2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user-</a:t>
                      </a:r>
                      <a:r>
                        <a:rPr dirty="0" sz="1200">
                          <a:latin typeface="Trebuchet MS"/>
                          <a:cs typeface="Trebuchet MS"/>
                        </a:rPr>
                        <a:t>reported</a:t>
                      </a:r>
                      <a:r>
                        <a:rPr dirty="0" sz="12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>
                          <a:latin typeface="Trebuchet MS"/>
                          <a:cs typeface="Trebuchet MS"/>
                        </a:rPr>
                        <a:t>data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6725" y="846338"/>
            <a:ext cx="5796915" cy="1292225"/>
            <a:chOff x="466725" y="846338"/>
            <a:chExt cx="5796915" cy="129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294" y="846338"/>
              <a:ext cx="5491772" cy="4456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1114361"/>
              <a:ext cx="2195576" cy="10239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50887" y="687387"/>
            <a:ext cx="5500370" cy="1129030"/>
          </a:xfrm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65"/>
              </a:spcBef>
            </a:pPr>
            <a:r>
              <a:rPr dirty="0" sz="3600" spc="-30"/>
              <a:t>Techniques</a:t>
            </a:r>
            <a:r>
              <a:rPr dirty="0" sz="3600" spc="-75"/>
              <a:t> </a:t>
            </a:r>
            <a:r>
              <a:rPr dirty="0" sz="3600"/>
              <a:t>Used</a:t>
            </a:r>
            <a:r>
              <a:rPr dirty="0" sz="3600" spc="-65"/>
              <a:t> </a:t>
            </a:r>
            <a:r>
              <a:rPr dirty="0" sz="3600"/>
              <a:t>in</a:t>
            </a:r>
            <a:r>
              <a:rPr dirty="0" sz="3600" spc="-65"/>
              <a:t> </a:t>
            </a:r>
            <a:r>
              <a:rPr dirty="0" sz="3600" spc="-10"/>
              <a:t>Existing Systems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750887" y="2257932"/>
            <a:ext cx="3514090" cy="3986529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3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Rule-based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aptitude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scoring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23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Questionnaire-based</a:t>
            </a:r>
            <a:r>
              <a:rPr dirty="0" sz="1850" spc="29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assessment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Basic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recommendation</a:t>
            </a:r>
            <a:r>
              <a:rPr dirty="0" sz="1850" spc="1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systems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Static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databases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5FCAEE"/>
              </a:buClr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5FCAEE"/>
              </a:buClr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51625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Observed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Gaps</a:t>
            </a:r>
            <a:endParaRPr sz="240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20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rural-focused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customization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bilingual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optimization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structured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439" y="779675"/>
            <a:ext cx="6063226" cy="45510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5155" y="625157"/>
            <a:ext cx="608838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Limitations</a:t>
            </a:r>
            <a:r>
              <a:rPr dirty="0" sz="3600" spc="-55"/>
              <a:t> </a:t>
            </a:r>
            <a:r>
              <a:rPr dirty="0" sz="3600"/>
              <a:t>of</a:t>
            </a:r>
            <a:r>
              <a:rPr dirty="0" sz="3600" spc="10"/>
              <a:t> </a:t>
            </a:r>
            <a:r>
              <a:rPr dirty="0" sz="3600"/>
              <a:t>existing</a:t>
            </a:r>
            <a:r>
              <a:rPr dirty="0" sz="3600" spc="10"/>
              <a:t> </a:t>
            </a:r>
            <a:r>
              <a:rPr dirty="0" sz="3600" spc="-10"/>
              <a:t>Systems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82294" y="1799589"/>
            <a:ext cx="3537585" cy="24974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Times New Roman"/>
                <a:cs typeface="Times New Roman"/>
              </a:rPr>
              <a:t>Limitations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Identified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Urban-centric</a:t>
            </a:r>
            <a:r>
              <a:rPr dirty="0" sz="1850" spc="23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platforms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Complex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UI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design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parental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involvement</a:t>
            </a:r>
            <a:r>
              <a:rPr dirty="0" sz="1850" spc="1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voice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support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No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integrated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Limited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personalization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561911"/>
            <a:ext cx="7329551" cy="1023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Problem</a:t>
            </a:r>
            <a:r>
              <a:rPr dirty="0" sz="3600" spc="-60"/>
              <a:t> </a:t>
            </a:r>
            <a:r>
              <a:rPr dirty="0" sz="3600"/>
              <a:t>statement</a:t>
            </a:r>
            <a:r>
              <a:rPr dirty="0" sz="3600" spc="-45"/>
              <a:t> </a:t>
            </a:r>
            <a:r>
              <a:rPr dirty="0" sz="3600"/>
              <a:t>and</a:t>
            </a:r>
            <a:r>
              <a:rPr dirty="0" sz="3600" spc="-95"/>
              <a:t> </a:t>
            </a:r>
            <a:r>
              <a:rPr dirty="0" sz="3600" spc="-10"/>
              <a:t>Objectives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94957" y="1312610"/>
            <a:ext cx="7954009" cy="5971540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400" b="1">
                <a:latin typeface="Times New Roman"/>
                <a:cs typeface="Times New Roman"/>
              </a:rPr>
              <a:t>Problem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850">
                <a:latin typeface="Times New Roman"/>
                <a:cs typeface="Times New Roman"/>
              </a:rPr>
              <a:t>Rural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students</a:t>
            </a:r>
            <a:r>
              <a:rPr dirty="0" sz="1850" spc="1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lack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accessible,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structured,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personalized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due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to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850">
                <a:latin typeface="Times New Roman"/>
                <a:cs typeface="Times New Roman"/>
              </a:rPr>
              <a:t>limited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digital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resources,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awareness,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mentorship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support.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850">
                <a:latin typeface="Times New Roman"/>
                <a:cs typeface="Times New Roman"/>
              </a:rPr>
              <a:t>There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is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need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for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simple,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bilingual,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aptitude-driven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digital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platform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that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guides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850">
                <a:latin typeface="Times New Roman"/>
                <a:cs typeface="Times New Roman"/>
              </a:rPr>
              <a:t>students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step-by-step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planning.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20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develop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rural-focused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digital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platform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conduct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aptitude-based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assessment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for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selection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provide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AI-driven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recommendations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generate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structured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5-step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implement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role-based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access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(Student,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Parent,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Admin)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support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multilingual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interface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(English,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Hindi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&amp;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Marathi)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ensure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simple,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low-data,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user-friendly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design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945" y="770138"/>
            <a:ext cx="4510709" cy="44560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5317" y="612457"/>
            <a:ext cx="452691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Proposed</a:t>
            </a:r>
            <a:r>
              <a:rPr dirty="0" sz="3600" spc="-120"/>
              <a:t> </a:t>
            </a:r>
            <a:r>
              <a:rPr dirty="0" sz="3600" spc="-10"/>
              <a:t>Methodology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50" y="1553781"/>
            <a:ext cx="9572625" cy="56142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System</a:t>
            </a:r>
            <a:r>
              <a:rPr dirty="0" sz="3600" spc="-240"/>
              <a:t> </a:t>
            </a:r>
            <a:r>
              <a:rPr dirty="0" sz="3600" spc="-10"/>
              <a:t>Architecture</a:t>
            </a:r>
            <a:r>
              <a:rPr dirty="0" sz="3600" spc="-80"/>
              <a:t> </a:t>
            </a:r>
            <a:r>
              <a:rPr dirty="0" sz="3600" spc="-10"/>
              <a:t>Overview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0887" y="2219643"/>
            <a:ext cx="3957954" cy="273621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algn="ctr" marL="367030">
              <a:lnSpc>
                <a:spcPct val="100000"/>
              </a:lnSpc>
              <a:spcBef>
                <a:spcPts val="1610"/>
              </a:spcBef>
            </a:pPr>
            <a:r>
              <a:rPr dirty="0" sz="2400" b="1">
                <a:latin typeface="Times New Roman"/>
                <a:cs typeface="Times New Roman"/>
              </a:rPr>
              <a:t>Four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Layer</a:t>
            </a:r>
            <a:r>
              <a:rPr dirty="0" sz="2400" spc="-1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Architecture:</a:t>
            </a:r>
            <a:endParaRPr sz="240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20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User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Layer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(Student,</a:t>
            </a:r>
            <a:r>
              <a:rPr dirty="0" sz="1850" spc="1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Parent,</a:t>
            </a:r>
            <a:r>
              <a:rPr dirty="0" sz="1850" spc="-10">
                <a:latin typeface="Times New Roman"/>
                <a:cs typeface="Times New Roman"/>
              </a:rPr>
              <a:t> Admin)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Frontend</a:t>
            </a:r>
            <a:r>
              <a:rPr dirty="0" sz="1850" spc="1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Presentation</a:t>
            </a:r>
            <a:r>
              <a:rPr dirty="0" sz="1850" spc="18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Layer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External</a:t>
            </a:r>
            <a:r>
              <a:rPr dirty="0" sz="1850" spc="-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API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Layer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Server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&amp;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Data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Layer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850">
                <a:latin typeface="Times New Roman"/>
                <a:cs typeface="Times New Roman"/>
              </a:rPr>
              <a:t>Ensures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modular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scalable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design.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Module</a:t>
            </a:r>
            <a:r>
              <a:rPr dirty="0" sz="3600" spc="-70"/>
              <a:t> </a:t>
            </a:r>
            <a:r>
              <a:rPr dirty="0" sz="3600" spc="-10"/>
              <a:t>Description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0887" y="1335003"/>
            <a:ext cx="2904490" cy="5823585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algn="ctr" marR="531495">
              <a:lnSpc>
                <a:spcPct val="100000"/>
              </a:lnSpc>
              <a:spcBef>
                <a:spcPts val="1445"/>
              </a:spcBef>
            </a:pPr>
            <a:r>
              <a:rPr dirty="0" sz="2150" b="1">
                <a:latin typeface="Times New Roman"/>
                <a:cs typeface="Times New Roman"/>
              </a:rPr>
              <a:t>User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spc="-20" b="1">
                <a:latin typeface="Times New Roman"/>
                <a:cs typeface="Times New Roman"/>
              </a:rPr>
              <a:t>Layer</a:t>
            </a:r>
            <a:endParaRPr sz="2150">
              <a:latin typeface="Times New Roman"/>
              <a:cs typeface="Times New Roman"/>
            </a:endParaRPr>
          </a:p>
          <a:p>
            <a:pPr algn="ctr" marL="377190" indent="-377190">
              <a:lnSpc>
                <a:spcPct val="100000"/>
              </a:lnSpc>
              <a:spcBef>
                <a:spcPts val="117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77190" algn="l"/>
              </a:tabLst>
            </a:pPr>
            <a:r>
              <a:rPr dirty="0" sz="1850">
                <a:latin typeface="Times New Roman"/>
                <a:cs typeface="Times New Roman"/>
              </a:rPr>
              <a:t>Role-based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access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control</a:t>
            </a:r>
            <a:endParaRPr sz="1850">
              <a:latin typeface="Times New Roman"/>
              <a:cs typeface="Times New Roman"/>
            </a:endParaRPr>
          </a:p>
          <a:p>
            <a:pPr algn="ctr" marL="20955">
              <a:lnSpc>
                <a:spcPct val="100000"/>
              </a:lnSpc>
              <a:spcBef>
                <a:spcPts val="1160"/>
              </a:spcBef>
            </a:pPr>
            <a:r>
              <a:rPr dirty="0" sz="2150" b="1">
                <a:latin typeface="Times New Roman"/>
                <a:cs typeface="Times New Roman"/>
              </a:rPr>
              <a:t>Frontend</a:t>
            </a:r>
            <a:r>
              <a:rPr dirty="0" sz="2150" spc="95" b="1">
                <a:latin typeface="Times New Roman"/>
                <a:cs typeface="Times New Roman"/>
              </a:rPr>
              <a:t> </a:t>
            </a:r>
            <a:r>
              <a:rPr dirty="0" sz="2150" spc="-20" b="1">
                <a:latin typeface="Times New Roman"/>
                <a:cs typeface="Times New Roman"/>
              </a:rPr>
              <a:t>Layer</a:t>
            </a:r>
            <a:endParaRPr sz="21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8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 spc="-10">
                <a:latin typeface="Times New Roman"/>
                <a:cs typeface="Times New Roman"/>
              </a:rPr>
              <a:t>Dashboard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Aptitude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Logic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Exam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Portal</a:t>
            </a:r>
            <a:endParaRPr sz="1850">
              <a:latin typeface="Times New Roman"/>
              <a:cs typeface="Times New Roman"/>
            </a:endParaRPr>
          </a:p>
          <a:p>
            <a:pPr marL="516255">
              <a:lnSpc>
                <a:spcPct val="100000"/>
              </a:lnSpc>
              <a:spcBef>
                <a:spcPts val="1160"/>
              </a:spcBef>
            </a:pPr>
            <a:r>
              <a:rPr dirty="0" sz="2150" b="1">
                <a:latin typeface="Times New Roman"/>
                <a:cs typeface="Times New Roman"/>
              </a:rPr>
              <a:t>External</a:t>
            </a:r>
            <a:r>
              <a:rPr dirty="0" sz="2150" spc="5" b="1">
                <a:latin typeface="Times New Roman"/>
                <a:cs typeface="Times New Roman"/>
              </a:rPr>
              <a:t> </a:t>
            </a:r>
            <a:r>
              <a:rPr dirty="0" sz="2150" spc="-20" b="1">
                <a:latin typeface="Times New Roman"/>
                <a:cs typeface="Times New Roman"/>
              </a:rPr>
              <a:t>APIs</a:t>
            </a:r>
            <a:endParaRPr sz="21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8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Web</a:t>
            </a:r>
            <a:r>
              <a:rPr dirty="0" sz="1850" spc="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Speech</a:t>
            </a:r>
            <a:r>
              <a:rPr dirty="0" sz="1850" spc="-65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API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Google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Translate</a:t>
            </a:r>
            <a:r>
              <a:rPr dirty="0" sz="1850" spc="-25">
                <a:latin typeface="Times New Roman"/>
                <a:cs typeface="Times New Roman"/>
              </a:rPr>
              <a:t> API</a:t>
            </a:r>
            <a:endParaRPr sz="1850">
              <a:latin typeface="Times New Roman"/>
              <a:cs typeface="Times New Roman"/>
            </a:endParaRPr>
          </a:p>
          <a:p>
            <a:pPr marL="516255">
              <a:lnSpc>
                <a:spcPct val="100000"/>
              </a:lnSpc>
              <a:spcBef>
                <a:spcPts val="1165"/>
              </a:spcBef>
            </a:pPr>
            <a:r>
              <a:rPr dirty="0" sz="2150" b="1">
                <a:latin typeface="Times New Roman"/>
                <a:cs typeface="Times New Roman"/>
              </a:rPr>
              <a:t>Server</a:t>
            </a:r>
            <a:r>
              <a:rPr dirty="0" sz="2150" spc="60" b="1">
                <a:latin typeface="Times New Roman"/>
                <a:cs typeface="Times New Roman"/>
              </a:rPr>
              <a:t> </a:t>
            </a:r>
            <a:r>
              <a:rPr dirty="0" sz="2150" spc="-20" b="1">
                <a:latin typeface="Times New Roman"/>
                <a:cs typeface="Times New Roman"/>
              </a:rPr>
              <a:t>Layer</a:t>
            </a:r>
            <a:endParaRPr sz="21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7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Flask</a:t>
            </a:r>
            <a:r>
              <a:rPr dirty="0" sz="1850" spc="1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Controller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Logic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Database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Storage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Working</a:t>
            </a:r>
            <a:r>
              <a:rPr dirty="0" sz="3600" spc="-195"/>
              <a:t> </a:t>
            </a:r>
            <a:r>
              <a:rPr dirty="0" sz="3600" spc="-10"/>
              <a:t>Methodology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0887" y="2295905"/>
            <a:ext cx="5018405" cy="4082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1823720">
              <a:lnSpc>
                <a:spcPct val="100000"/>
              </a:lnSpc>
              <a:spcBef>
                <a:spcPts val="130"/>
              </a:spcBef>
            </a:pPr>
            <a:r>
              <a:rPr dirty="0" sz="1850">
                <a:latin typeface="Times New Roman"/>
                <a:cs typeface="Times New Roman"/>
              </a:rPr>
              <a:t>User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Login</a:t>
            </a:r>
            <a:endParaRPr sz="1850">
              <a:latin typeface="Times New Roman"/>
              <a:cs typeface="Times New Roman"/>
            </a:endParaRPr>
          </a:p>
          <a:p>
            <a:pPr algn="ctr" marL="1823085">
              <a:lnSpc>
                <a:spcPct val="100000"/>
              </a:lnSpc>
              <a:spcBef>
                <a:spcPts val="110"/>
              </a:spcBef>
            </a:pPr>
            <a:r>
              <a:rPr dirty="0" sz="1850" spc="-50" b="1">
                <a:latin typeface="Times New Roman"/>
                <a:cs typeface="Times New Roman"/>
              </a:rPr>
              <a:t>↓</a:t>
            </a:r>
            <a:endParaRPr sz="1850">
              <a:latin typeface="Times New Roman"/>
              <a:cs typeface="Times New Roman"/>
            </a:endParaRPr>
          </a:p>
          <a:p>
            <a:pPr algn="ctr" marL="1821180">
              <a:lnSpc>
                <a:spcPct val="100000"/>
              </a:lnSpc>
              <a:spcBef>
                <a:spcPts val="35"/>
              </a:spcBef>
            </a:pPr>
            <a:r>
              <a:rPr dirty="0" sz="1850">
                <a:latin typeface="Times New Roman"/>
                <a:cs typeface="Times New Roman"/>
              </a:rPr>
              <a:t>Aptitude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Test</a:t>
            </a:r>
            <a:endParaRPr sz="1850">
              <a:latin typeface="Times New Roman"/>
              <a:cs typeface="Times New Roman"/>
            </a:endParaRPr>
          </a:p>
          <a:p>
            <a:pPr algn="ctr" marL="1822450">
              <a:lnSpc>
                <a:spcPct val="100000"/>
              </a:lnSpc>
              <a:spcBef>
                <a:spcPts val="110"/>
              </a:spcBef>
            </a:pPr>
            <a:r>
              <a:rPr dirty="0" sz="1850" spc="-50" b="1">
                <a:latin typeface="Times New Roman"/>
                <a:cs typeface="Times New Roman"/>
              </a:rPr>
              <a:t>↓</a:t>
            </a:r>
            <a:endParaRPr sz="1850">
              <a:latin typeface="Times New Roman"/>
              <a:cs typeface="Times New Roman"/>
            </a:endParaRPr>
          </a:p>
          <a:p>
            <a:pPr algn="ctr" marL="1816100">
              <a:lnSpc>
                <a:spcPct val="100000"/>
              </a:lnSpc>
              <a:spcBef>
                <a:spcPts val="35"/>
              </a:spcBef>
            </a:pPr>
            <a:r>
              <a:rPr dirty="0" sz="1850">
                <a:latin typeface="Times New Roman"/>
                <a:cs typeface="Times New Roman"/>
              </a:rPr>
              <a:t>Category-wise</a:t>
            </a:r>
            <a:r>
              <a:rPr dirty="0" sz="1850" spc="1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Score</a:t>
            </a:r>
            <a:r>
              <a:rPr dirty="0" sz="1850" spc="17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Calculation</a:t>
            </a:r>
            <a:endParaRPr sz="1850">
              <a:latin typeface="Times New Roman"/>
              <a:cs typeface="Times New Roman"/>
            </a:endParaRPr>
          </a:p>
          <a:p>
            <a:pPr algn="ctr" marL="1823085">
              <a:lnSpc>
                <a:spcPct val="100000"/>
              </a:lnSpc>
              <a:spcBef>
                <a:spcPts val="30"/>
              </a:spcBef>
            </a:pPr>
            <a:r>
              <a:rPr dirty="0" sz="1850" spc="-50" b="1">
                <a:latin typeface="Times New Roman"/>
                <a:cs typeface="Times New Roman"/>
              </a:rPr>
              <a:t>↓</a:t>
            </a:r>
            <a:endParaRPr sz="1850">
              <a:latin typeface="Times New Roman"/>
              <a:cs typeface="Times New Roman"/>
            </a:endParaRPr>
          </a:p>
          <a:p>
            <a:pPr algn="ctr" marL="1822450"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Suggestion</a:t>
            </a:r>
            <a:endParaRPr sz="1850">
              <a:latin typeface="Times New Roman"/>
              <a:cs typeface="Times New Roman"/>
            </a:endParaRPr>
          </a:p>
          <a:p>
            <a:pPr algn="ctr" marL="1823085">
              <a:lnSpc>
                <a:spcPct val="100000"/>
              </a:lnSpc>
              <a:spcBef>
                <a:spcPts val="35"/>
              </a:spcBef>
            </a:pPr>
            <a:r>
              <a:rPr dirty="0" sz="1850" spc="-50" b="1">
                <a:latin typeface="Times New Roman"/>
                <a:cs typeface="Times New Roman"/>
              </a:rPr>
              <a:t>↓</a:t>
            </a:r>
            <a:endParaRPr sz="1850">
              <a:latin typeface="Times New Roman"/>
              <a:cs typeface="Times New Roman"/>
            </a:endParaRPr>
          </a:p>
          <a:p>
            <a:pPr algn="ctr" marL="1824355"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Recommendation</a:t>
            </a:r>
            <a:endParaRPr sz="1850">
              <a:latin typeface="Times New Roman"/>
              <a:cs typeface="Times New Roman"/>
            </a:endParaRPr>
          </a:p>
          <a:p>
            <a:pPr algn="ctr" marL="1822450">
              <a:lnSpc>
                <a:spcPct val="100000"/>
              </a:lnSpc>
              <a:spcBef>
                <a:spcPts val="35"/>
              </a:spcBef>
            </a:pPr>
            <a:r>
              <a:rPr dirty="0" sz="1850" spc="-50" b="1">
                <a:latin typeface="Times New Roman"/>
                <a:cs typeface="Times New Roman"/>
              </a:rPr>
              <a:t>↓</a:t>
            </a:r>
            <a:endParaRPr sz="1850">
              <a:latin typeface="Times New Roman"/>
              <a:cs typeface="Times New Roman"/>
            </a:endParaRPr>
          </a:p>
          <a:p>
            <a:pPr algn="ctr" marL="1818639">
              <a:lnSpc>
                <a:spcPct val="100000"/>
              </a:lnSpc>
              <a:spcBef>
                <a:spcPts val="35"/>
              </a:spcBef>
            </a:pPr>
            <a:r>
              <a:rPr dirty="0" sz="1850">
                <a:latin typeface="Times New Roman"/>
                <a:cs typeface="Times New Roman"/>
              </a:rPr>
              <a:t>5-Step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50">
                <a:latin typeface="Times New Roman"/>
                <a:cs typeface="Times New Roman"/>
              </a:rPr>
              <a:t>Rule-based</a:t>
            </a:r>
            <a:r>
              <a:rPr dirty="0" sz="1850" spc="-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AI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decision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logic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implemented.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75"/>
              <a:t>Value</a:t>
            </a:r>
            <a:r>
              <a:rPr dirty="0" sz="3600" spc="-195"/>
              <a:t> </a:t>
            </a:r>
            <a:r>
              <a:rPr dirty="0" sz="3600"/>
              <a:t>Addition</a:t>
            </a:r>
            <a:r>
              <a:rPr dirty="0" sz="3600" spc="-75"/>
              <a:t> </a:t>
            </a:r>
            <a:r>
              <a:rPr dirty="0" sz="3600"/>
              <a:t>/</a:t>
            </a:r>
            <a:r>
              <a:rPr dirty="0" sz="3600" spc="40"/>
              <a:t> </a:t>
            </a:r>
            <a:r>
              <a:rPr dirty="0" sz="3600" spc="-10"/>
              <a:t>Customization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50887" y="2257932"/>
            <a:ext cx="3630929" cy="3051175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3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Rural-focused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UI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design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23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English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+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Hindi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+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Marathi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toggle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 spc="-20">
                <a:latin typeface="Times New Roman"/>
                <a:cs typeface="Times New Roman"/>
              </a:rPr>
              <a:t>Voice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navigation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support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Parent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module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Structured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5-step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roadmap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Low-data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optimization</a:t>
            </a:r>
            <a:endParaRPr sz="185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89890" algn="l"/>
              </a:tabLst>
            </a:pPr>
            <a:r>
              <a:rPr dirty="0" sz="1850">
                <a:latin typeface="Times New Roman"/>
                <a:cs typeface="Times New Roman"/>
              </a:rPr>
              <a:t>Pdf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download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option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783" y="636800"/>
            <a:ext cx="3910709" cy="45510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58875" y="482028"/>
            <a:ext cx="393128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Experimental</a:t>
            </a:r>
            <a:r>
              <a:rPr dirty="0" sz="3600" spc="-50"/>
              <a:t> </a:t>
            </a:r>
            <a:r>
              <a:rPr dirty="0" sz="3600" spc="-10"/>
              <a:t>Setup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942975" y="1646936"/>
            <a:ext cx="3125470" cy="134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Times New Roman"/>
                <a:cs typeface="Times New Roman"/>
              </a:rPr>
              <a:t>Input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10</a:t>
            </a:r>
            <a:r>
              <a:rPr dirty="0" sz="1850" spc="-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Aptitude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MCQ</a:t>
            </a:r>
            <a:r>
              <a:rPr dirty="0" sz="1850" spc="15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Questions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User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Profile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Data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975" y="3985577"/>
            <a:ext cx="2089150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Software</a:t>
            </a:r>
            <a:r>
              <a:rPr dirty="0" sz="2400" spc="-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Used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5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 spc="-20">
                <a:latin typeface="Times New Roman"/>
                <a:cs typeface="Times New Roman"/>
              </a:rPr>
              <a:t>HTML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25">
                <a:latin typeface="Times New Roman"/>
                <a:cs typeface="Times New Roman"/>
              </a:rPr>
              <a:t>CSS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0">
                <a:latin typeface="Times New Roman"/>
                <a:cs typeface="Times New Roman"/>
              </a:rPr>
              <a:t>JavaScript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Python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Flask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0">
                <a:latin typeface="Times New Roman"/>
                <a:cs typeface="Times New Roman"/>
              </a:rPr>
              <a:t>MySQL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Implementation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7075" y="1263078"/>
            <a:ext cx="347408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latin typeface="Times New Roman"/>
                <a:cs typeface="Times New Roman"/>
              </a:rPr>
              <a:t>Login</a:t>
            </a:r>
            <a:r>
              <a:rPr dirty="0" sz="2750" spc="120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/</a:t>
            </a:r>
            <a:r>
              <a:rPr dirty="0" sz="2750" spc="55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Register</a:t>
            </a:r>
            <a:r>
              <a:rPr dirty="0" sz="2750" spc="20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Page</a:t>
            </a:r>
            <a:r>
              <a:rPr dirty="0" sz="2750" spc="70" b="1">
                <a:latin typeface="Times New Roman"/>
                <a:cs typeface="Times New Roman"/>
              </a:rPr>
              <a:t> </a:t>
            </a:r>
            <a:r>
              <a:rPr dirty="0" sz="2750" spc="-50" b="1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896884"/>
            <a:ext cx="4533900" cy="48613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0887" y="419988"/>
            <a:ext cx="505587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Aptitude</a:t>
            </a:r>
            <a:r>
              <a:rPr dirty="0" spc="100"/>
              <a:t> </a:t>
            </a:r>
            <a:r>
              <a:rPr dirty="0"/>
              <a:t>Page</a:t>
            </a:r>
            <a:r>
              <a:rPr dirty="0" spc="95"/>
              <a:t> </a:t>
            </a:r>
            <a:r>
              <a:rPr dirty="0"/>
              <a:t>:</a:t>
            </a:r>
            <a:r>
              <a:rPr dirty="0" spc="30"/>
              <a:t> </a:t>
            </a:r>
            <a:r>
              <a:rPr dirty="0"/>
              <a:t>3</a:t>
            </a:r>
            <a:r>
              <a:rPr dirty="0" spc="90"/>
              <a:t> </a:t>
            </a:r>
            <a:r>
              <a:rPr dirty="0"/>
              <a:t>Phase</a:t>
            </a:r>
            <a:r>
              <a:rPr dirty="0" spc="-70"/>
              <a:t> </a:t>
            </a:r>
            <a:r>
              <a:rPr dirty="0" spc="-10"/>
              <a:t>Aptitude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258316"/>
            <a:ext cx="3181350" cy="23067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3350" y="1124838"/>
            <a:ext cx="2590800" cy="2659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48450" y="1229613"/>
            <a:ext cx="3038475" cy="24116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125" y="3927144"/>
            <a:ext cx="3181350" cy="28787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81450" y="4089209"/>
            <a:ext cx="2667000" cy="24020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4650" y="3784155"/>
            <a:ext cx="2876550" cy="32123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91513"/>
            <a:ext cx="3667125" cy="6371590"/>
            <a:chOff x="0" y="1191513"/>
            <a:chExt cx="3667125" cy="6371590"/>
          </a:xfrm>
        </p:grpSpPr>
        <p:sp>
          <p:nvSpPr>
            <p:cNvPr id="3" name="object 3"/>
            <p:cNvSpPr/>
            <p:nvPr/>
          </p:nvSpPr>
          <p:spPr>
            <a:xfrm>
              <a:off x="0" y="4482251"/>
              <a:ext cx="494665" cy="3081020"/>
            </a:xfrm>
            <a:custGeom>
              <a:avLst/>
              <a:gdLst/>
              <a:ahLst/>
              <a:cxnLst/>
              <a:rect l="l" t="t" r="r" b="b"/>
              <a:pathLst>
                <a:path w="494665" h="3081020">
                  <a:moveTo>
                    <a:pt x="0" y="0"/>
                  </a:moveTo>
                  <a:lnTo>
                    <a:pt x="0" y="3077000"/>
                  </a:lnTo>
                  <a:lnTo>
                    <a:pt x="194591" y="3080598"/>
                  </a:lnTo>
                  <a:lnTo>
                    <a:pt x="494407" y="3080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AEE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625" y="1191513"/>
              <a:ext cx="3238500" cy="479463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5664842" y="0"/>
            <a:ext cx="4417695" cy="7567930"/>
            <a:chOff x="5664842" y="0"/>
            <a:chExt cx="4417695" cy="7567930"/>
          </a:xfrm>
        </p:grpSpPr>
        <p:sp>
          <p:nvSpPr>
            <p:cNvPr id="6" name="object 6"/>
            <p:cNvSpPr/>
            <p:nvPr/>
          </p:nvSpPr>
          <p:spPr>
            <a:xfrm>
              <a:off x="5669607" y="4825"/>
              <a:ext cx="4408170" cy="7558405"/>
            </a:xfrm>
            <a:custGeom>
              <a:avLst/>
              <a:gdLst/>
              <a:ahLst/>
              <a:cxnLst/>
              <a:rect l="l" t="t" r="r" b="b"/>
              <a:pathLst>
                <a:path w="4408170" h="7558405">
                  <a:moveTo>
                    <a:pt x="0" y="7558024"/>
                  </a:moveTo>
                  <a:lnTo>
                    <a:pt x="4407842" y="4615660"/>
                  </a:lnTo>
                </a:path>
                <a:path w="4408170" h="7558405">
                  <a:moveTo>
                    <a:pt x="2098093" y="0"/>
                  </a:moveTo>
                  <a:lnTo>
                    <a:pt x="3439764" y="7558024"/>
                  </a:lnTo>
                </a:path>
              </a:pathLst>
            </a:custGeom>
            <a:ln w="9529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91425" y="0"/>
              <a:ext cx="2486025" cy="7562850"/>
            </a:xfrm>
            <a:custGeom>
              <a:avLst/>
              <a:gdLst/>
              <a:ahLst/>
              <a:cxnLst/>
              <a:rect l="l" t="t" r="r" b="b"/>
              <a:pathLst>
                <a:path w="2486025" h="7562850">
                  <a:moveTo>
                    <a:pt x="2233676" y="0"/>
                  </a:moveTo>
                  <a:lnTo>
                    <a:pt x="0" y="7559078"/>
                  </a:lnTo>
                  <a:lnTo>
                    <a:pt x="1012240" y="7562850"/>
                  </a:lnTo>
                  <a:lnTo>
                    <a:pt x="2486025" y="7562850"/>
                  </a:lnTo>
                  <a:lnTo>
                    <a:pt x="2486025" y="8942"/>
                  </a:lnTo>
                  <a:lnTo>
                    <a:pt x="2233676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945514" y="0"/>
              <a:ext cx="2132330" cy="7559040"/>
            </a:xfrm>
            <a:custGeom>
              <a:avLst/>
              <a:gdLst/>
              <a:ahLst/>
              <a:cxnLst/>
              <a:rect l="l" t="t" r="r" b="b"/>
              <a:pathLst>
                <a:path w="2132329" h="7559040">
                  <a:moveTo>
                    <a:pt x="2131935" y="0"/>
                  </a:moveTo>
                  <a:lnTo>
                    <a:pt x="0" y="0"/>
                  </a:lnTo>
                  <a:lnTo>
                    <a:pt x="1320913" y="7558878"/>
                  </a:lnTo>
                  <a:lnTo>
                    <a:pt x="2131935" y="7558878"/>
                  </a:lnTo>
                  <a:lnTo>
                    <a:pt x="2131935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15200" y="4330196"/>
              <a:ext cx="2762250" cy="3228975"/>
            </a:xfrm>
            <a:custGeom>
              <a:avLst/>
              <a:gdLst/>
              <a:ahLst/>
              <a:cxnLst/>
              <a:rect l="l" t="t" r="r" b="b"/>
              <a:pathLst>
                <a:path w="2762250" h="3228975">
                  <a:moveTo>
                    <a:pt x="2762250" y="0"/>
                  </a:moveTo>
                  <a:lnTo>
                    <a:pt x="0" y="3228681"/>
                  </a:lnTo>
                  <a:lnTo>
                    <a:pt x="2762250" y="3228681"/>
                  </a:lnTo>
                  <a:lnTo>
                    <a:pt x="27622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727351" y="0"/>
              <a:ext cx="2350135" cy="7559040"/>
            </a:xfrm>
            <a:custGeom>
              <a:avLst/>
              <a:gdLst/>
              <a:ahLst/>
              <a:cxnLst/>
              <a:rect l="l" t="t" r="r" b="b"/>
              <a:pathLst>
                <a:path w="2350134" h="7559040">
                  <a:moveTo>
                    <a:pt x="2350099" y="0"/>
                  </a:moveTo>
                  <a:lnTo>
                    <a:pt x="0" y="0"/>
                  </a:lnTo>
                  <a:lnTo>
                    <a:pt x="2044156" y="7558878"/>
                  </a:lnTo>
                  <a:lnTo>
                    <a:pt x="2350099" y="7549828"/>
                  </a:lnTo>
                  <a:lnTo>
                    <a:pt x="235009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44000" y="0"/>
              <a:ext cx="933450" cy="7559040"/>
            </a:xfrm>
            <a:custGeom>
              <a:avLst/>
              <a:gdLst/>
              <a:ahLst/>
              <a:cxnLst/>
              <a:rect l="l" t="t" r="r" b="b"/>
              <a:pathLst>
                <a:path w="933450" h="7559040">
                  <a:moveTo>
                    <a:pt x="933450" y="0"/>
                  </a:moveTo>
                  <a:lnTo>
                    <a:pt x="743537" y="0"/>
                  </a:lnTo>
                  <a:lnTo>
                    <a:pt x="0" y="7558878"/>
                  </a:lnTo>
                  <a:lnTo>
                    <a:pt x="933450" y="7558878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26222" y="0"/>
              <a:ext cx="1151255" cy="7559040"/>
            </a:xfrm>
            <a:custGeom>
              <a:avLst/>
              <a:gdLst/>
              <a:ahLst/>
              <a:cxnLst/>
              <a:rect l="l" t="t" r="r" b="b"/>
              <a:pathLst>
                <a:path w="1151254" h="7559040">
                  <a:moveTo>
                    <a:pt x="1151227" y="0"/>
                  </a:moveTo>
                  <a:lnTo>
                    <a:pt x="0" y="0"/>
                  </a:lnTo>
                  <a:lnTo>
                    <a:pt x="1029434" y="7558878"/>
                  </a:lnTo>
                  <a:lnTo>
                    <a:pt x="1151227" y="7558878"/>
                  </a:lnTo>
                  <a:lnTo>
                    <a:pt x="1151227" y="0"/>
                  </a:lnTo>
                  <a:close/>
                </a:path>
              </a:pathLst>
            </a:custGeom>
            <a:solidFill>
              <a:srgbClr val="226192">
                <a:alpha val="8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896350" y="5419471"/>
              <a:ext cx="1181100" cy="2139950"/>
            </a:xfrm>
            <a:custGeom>
              <a:avLst/>
              <a:gdLst/>
              <a:ahLst/>
              <a:cxnLst/>
              <a:rect l="l" t="t" r="r" b="b"/>
              <a:pathLst>
                <a:path w="1181100" h="2139950">
                  <a:moveTo>
                    <a:pt x="1181100" y="0"/>
                  </a:moveTo>
                  <a:lnTo>
                    <a:pt x="0" y="2139406"/>
                  </a:lnTo>
                  <a:lnTo>
                    <a:pt x="1181100" y="2133889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27075" y="709295"/>
            <a:ext cx="195707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b="1">
                <a:latin typeface="Trebuchet MS"/>
                <a:cs typeface="Trebuchet MS"/>
              </a:rPr>
              <a:t>Aptitude</a:t>
            </a:r>
            <a:r>
              <a:rPr dirty="0" sz="2000" spc="-70" b="1">
                <a:latin typeface="Trebuchet MS"/>
                <a:cs typeface="Trebuchet MS"/>
              </a:rPr>
              <a:t> </a:t>
            </a:r>
            <a:r>
              <a:rPr dirty="0" sz="2000" spc="-10" b="1">
                <a:latin typeface="Trebuchet MS"/>
                <a:cs typeface="Trebuchet MS"/>
              </a:rPr>
              <a:t>Result: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886460"/>
            <a:ext cx="5600700" cy="282143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6200" y="4432388"/>
            <a:ext cx="5705475" cy="2602229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4474209" y="274955"/>
            <a:ext cx="1358900" cy="3352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0">
                <a:latin typeface="Trebuchet MS"/>
                <a:cs typeface="Trebuchet MS"/>
              </a:rPr>
              <a:t>Dashboard: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8309" y="3967162"/>
            <a:ext cx="20510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rebuchet MS"/>
                <a:cs typeface="Trebuchet MS"/>
              </a:rPr>
              <a:t>Explore</a:t>
            </a:r>
            <a:r>
              <a:rPr dirty="0" sz="1800" spc="-25" b="1">
                <a:latin typeface="Trebuchet MS"/>
                <a:cs typeface="Trebuchet MS"/>
              </a:rPr>
              <a:t> </a:t>
            </a:r>
            <a:r>
              <a:rPr dirty="0" sz="1800" b="1">
                <a:latin typeface="Trebuchet MS"/>
                <a:cs typeface="Trebuchet MS"/>
              </a:rPr>
              <a:t>all</a:t>
            </a:r>
            <a:r>
              <a:rPr dirty="0" sz="1800" spc="-45" b="1">
                <a:latin typeface="Trebuchet MS"/>
                <a:cs typeface="Trebuchet MS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stream: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887" y="430530"/>
            <a:ext cx="94297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latin typeface="Times New Roman"/>
                <a:cs typeface="Times New Roman"/>
              </a:rPr>
              <a:t>Path</a:t>
            </a:r>
            <a:r>
              <a:rPr dirty="0" sz="2750" spc="90" b="1">
                <a:latin typeface="Times New Roman"/>
                <a:cs typeface="Times New Roman"/>
              </a:rPr>
              <a:t> </a:t>
            </a:r>
            <a:r>
              <a:rPr dirty="0" sz="2750" spc="-50" b="1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1191513"/>
            <a:ext cx="3848100" cy="21541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31740" y="430530"/>
            <a:ext cx="125793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Exams</a:t>
            </a:r>
            <a:r>
              <a:rPr dirty="0" spc="90"/>
              <a:t> </a:t>
            </a:r>
            <a:r>
              <a:rPr dirty="0" spc="-50"/>
              <a:t>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0" y="3774566"/>
            <a:ext cx="3848100" cy="21638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9675" y="1191513"/>
            <a:ext cx="3838575" cy="21541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8250" y="3745991"/>
            <a:ext cx="3838575" cy="21638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Roadmap</a:t>
            </a:r>
            <a:r>
              <a:rPr dirty="0" spc="180"/>
              <a:t> </a:t>
            </a:r>
            <a:r>
              <a:rPr dirty="0" spc="-50"/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1344041"/>
            <a:ext cx="4333875" cy="24401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0" y="4213161"/>
            <a:ext cx="4333875" cy="24401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4232211"/>
            <a:ext cx="4295775" cy="24211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24475" y="1334516"/>
            <a:ext cx="4295775" cy="24211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5282" y="1358518"/>
            <a:ext cx="16002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 b="1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4864" y="4245673"/>
            <a:ext cx="1600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2164" y="1325562"/>
            <a:ext cx="1600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582" y="4245673"/>
            <a:ext cx="1600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887" y="519683"/>
            <a:ext cx="280543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solidFill>
                  <a:srgbClr val="404040"/>
                </a:solidFill>
                <a:latin typeface="Times New Roman"/>
                <a:cs typeface="Times New Roman"/>
              </a:rPr>
              <a:t>Parent</a:t>
            </a:r>
            <a:r>
              <a:rPr dirty="0" sz="2750" spc="11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750" b="1">
                <a:solidFill>
                  <a:srgbClr val="404040"/>
                </a:solidFill>
                <a:latin typeface="Times New Roman"/>
                <a:cs typeface="Times New Roman"/>
              </a:rPr>
              <a:t>Feedback</a:t>
            </a:r>
            <a:r>
              <a:rPr dirty="0" sz="2750" spc="120" b="1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dirty="0" sz="2750" spc="-50" b="1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1191513"/>
            <a:ext cx="4105275" cy="230670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77765" y="519683"/>
            <a:ext cx="280162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404040"/>
                </a:solidFill>
              </a:rPr>
              <a:t>Parent</a:t>
            </a:r>
            <a:r>
              <a:rPr dirty="0" spc="6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Guidance</a:t>
            </a:r>
            <a:r>
              <a:rPr dirty="0" spc="145">
                <a:solidFill>
                  <a:srgbClr val="404040"/>
                </a:solidFill>
              </a:rPr>
              <a:t> </a:t>
            </a:r>
            <a:r>
              <a:rPr dirty="0" spc="-50">
                <a:solidFill>
                  <a:srgbClr val="404040"/>
                </a:solidFill>
              </a:rPr>
              <a:t>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8725" y="1191513"/>
            <a:ext cx="4105275" cy="23067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7775" y="4041609"/>
            <a:ext cx="4105275" cy="230670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887" y="436880"/>
            <a:ext cx="2255520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latin typeface="Times New Roman"/>
                <a:cs typeface="Times New Roman"/>
              </a:rPr>
              <a:t>Admin</a:t>
            </a:r>
            <a:r>
              <a:rPr dirty="0" sz="2750" spc="114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Login</a:t>
            </a:r>
            <a:r>
              <a:rPr dirty="0" sz="2750" spc="110" b="1">
                <a:latin typeface="Times New Roman"/>
                <a:cs typeface="Times New Roman"/>
              </a:rPr>
              <a:t> </a:t>
            </a:r>
            <a:r>
              <a:rPr dirty="0" sz="2750" spc="-50" b="1">
                <a:latin typeface="Times New Roman"/>
                <a:cs typeface="Times New Roman"/>
              </a:rPr>
              <a:t>: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1229613"/>
            <a:ext cx="3648075" cy="262127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761865" y="406781"/>
            <a:ext cx="2094864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Admin</a:t>
            </a:r>
            <a:r>
              <a:rPr dirty="0" spc="135"/>
              <a:t> </a:t>
            </a:r>
            <a:r>
              <a:rPr dirty="0"/>
              <a:t>Page</a:t>
            </a:r>
            <a:r>
              <a:rPr dirty="0" spc="60"/>
              <a:t> </a:t>
            </a:r>
            <a:r>
              <a:rPr dirty="0" spc="-50"/>
              <a:t>: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7725" y="1229613"/>
            <a:ext cx="4324350" cy="24401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725" y="4213161"/>
            <a:ext cx="4352925" cy="24497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650" y="789157"/>
            <a:ext cx="1434974" cy="3508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0" y="495236"/>
            <a:ext cx="2281301" cy="103346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0855" y="627697"/>
            <a:ext cx="368744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Results</a:t>
            </a:r>
            <a:r>
              <a:rPr dirty="0" sz="3600" spc="-40"/>
              <a:t> </a:t>
            </a:r>
            <a:r>
              <a:rPr dirty="0" sz="3600"/>
              <a:t>&amp;</a:t>
            </a:r>
            <a:r>
              <a:rPr dirty="0" sz="3600" spc="-204"/>
              <a:t> </a:t>
            </a:r>
            <a:r>
              <a:rPr dirty="0" sz="3600" spc="-10"/>
              <a:t>Analysis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582294" y="1550035"/>
            <a:ext cx="3996690" cy="1915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10" b="1">
                <a:latin typeface="Times New Roman"/>
                <a:cs typeface="Times New Roman"/>
              </a:rPr>
              <a:t>Results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Accurate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classification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Personalized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match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percentage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Improved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user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engagement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Simple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structured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navigation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294" y="4174871"/>
            <a:ext cx="4823460" cy="19246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Times New Roman"/>
                <a:cs typeface="Times New Roman"/>
              </a:rPr>
              <a:t>Analysis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(Performance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Justification)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Rule-based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accuracy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depends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on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scoring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logic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Clear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category-wise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decision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mechanism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Reduced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confusion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stream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selection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(If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needed,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add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bar</a:t>
            </a:r>
            <a:r>
              <a:rPr dirty="0" sz="1850" spc="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graph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category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scoring)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3840" y="609536"/>
            <a:ext cx="5930265" cy="1033780"/>
            <a:chOff x="513840" y="609536"/>
            <a:chExt cx="5930265" cy="1033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840" y="893975"/>
              <a:ext cx="2196595" cy="3602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5074" y="609536"/>
              <a:ext cx="1357249" cy="10334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9" y="609536"/>
              <a:ext cx="1966976" cy="10334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0124" y="609536"/>
              <a:ext cx="1633601" cy="103346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90855" y="737552"/>
            <a:ext cx="564769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Conclusion</a:t>
            </a:r>
            <a:r>
              <a:rPr dirty="0" sz="3600" spc="-80"/>
              <a:t> </a:t>
            </a:r>
            <a:r>
              <a:rPr dirty="0" sz="3600"/>
              <a:t>and</a:t>
            </a:r>
            <a:r>
              <a:rPr dirty="0" sz="3600" spc="-70"/>
              <a:t> </a:t>
            </a:r>
            <a:r>
              <a:rPr dirty="0" sz="3600"/>
              <a:t>Future</a:t>
            </a:r>
            <a:r>
              <a:rPr dirty="0" sz="3600" spc="-35"/>
              <a:t> </a:t>
            </a:r>
            <a:r>
              <a:rPr dirty="0" sz="3600" spc="-20"/>
              <a:t>work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583882" y="1528699"/>
            <a:ext cx="4293870" cy="19157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spc="-10" b="1">
                <a:latin typeface="Times New Roman"/>
                <a:cs typeface="Times New Roman"/>
              </a:rPr>
              <a:t>Conclusion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Developed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rural-focused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career</a:t>
            </a:r>
            <a:r>
              <a:rPr dirty="0" sz="1850" spc="16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platform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Achieved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SDG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4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mapping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Provided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structured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system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Implemented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modular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architecture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882" y="4296410"/>
            <a:ext cx="5026025" cy="2202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 b="1">
                <a:latin typeface="Times New Roman"/>
                <a:cs typeface="Times New Roman"/>
              </a:rPr>
              <a:t>Future</a:t>
            </a:r>
            <a:r>
              <a:rPr dirty="0" sz="2400" spc="-120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AI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Chatbot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integration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Mobile</a:t>
            </a:r>
            <a:r>
              <a:rPr dirty="0" sz="1850" spc="-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App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development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Include</a:t>
            </a:r>
            <a:r>
              <a:rPr dirty="0" sz="1850" spc="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all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other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professions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(careers)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Machine</a:t>
            </a:r>
            <a:r>
              <a:rPr dirty="0" sz="1850" spc="1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learning-based</a:t>
            </a:r>
            <a:r>
              <a:rPr dirty="0" sz="1850" spc="15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recommendation</a:t>
            </a: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Enabling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guidance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other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Indian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languages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too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829" y="779675"/>
            <a:ext cx="2129957" cy="3602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0855" y="625157"/>
            <a:ext cx="214820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0"/>
              <a:t>References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55600" marR="5080" indent="-343535">
              <a:lnSpc>
                <a:spcPct val="105000"/>
              </a:lnSpc>
              <a:spcBef>
                <a:spcPts val="1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55600" algn="l"/>
              </a:tabLst>
            </a:pPr>
            <a:r>
              <a:rPr dirty="0"/>
              <a:t>[1]</a:t>
            </a:r>
            <a:r>
              <a:rPr dirty="0" spc="85"/>
              <a:t> </a:t>
            </a:r>
            <a:r>
              <a:rPr dirty="0"/>
              <a:t>F.</a:t>
            </a:r>
            <a:r>
              <a:rPr dirty="0" spc="90"/>
              <a:t> </a:t>
            </a:r>
            <a:r>
              <a:rPr dirty="0"/>
              <a:t>Ricci,</a:t>
            </a:r>
            <a:r>
              <a:rPr dirty="0" spc="95"/>
              <a:t> </a:t>
            </a:r>
            <a:r>
              <a:rPr dirty="0"/>
              <a:t>L.</a:t>
            </a:r>
            <a:r>
              <a:rPr dirty="0" spc="90"/>
              <a:t> </a:t>
            </a:r>
            <a:r>
              <a:rPr dirty="0"/>
              <a:t>Rokach,</a:t>
            </a:r>
            <a:r>
              <a:rPr dirty="0" spc="90"/>
              <a:t> </a:t>
            </a:r>
            <a:r>
              <a:rPr dirty="0"/>
              <a:t>and</a:t>
            </a:r>
            <a:r>
              <a:rPr dirty="0" spc="75"/>
              <a:t> </a:t>
            </a:r>
            <a:r>
              <a:rPr dirty="0"/>
              <a:t>B.</a:t>
            </a:r>
            <a:r>
              <a:rPr dirty="0" spc="90"/>
              <a:t> </a:t>
            </a:r>
            <a:r>
              <a:rPr dirty="0"/>
              <a:t>Shapira,</a:t>
            </a:r>
            <a:r>
              <a:rPr dirty="0" spc="135"/>
              <a:t> </a:t>
            </a:r>
            <a:r>
              <a:rPr dirty="0" i="1">
                <a:latin typeface="Times New Roman"/>
                <a:cs typeface="Times New Roman"/>
              </a:rPr>
              <a:t>Recommender</a:t>
            </a:r>
            <a:r>
              <a:rPr dirty="0" spc="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Systems</a:t>
            </a:r>
            <a:r>
              <a:rPr dirty="0" spc="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Handbook</a:t>
            </a:r>
            <a:r>
              <a:rPr dirty="0"/>
              <a:t>.</a:t>
            </a:r>
            <a:r>
              <a:rPr dirty="0" spc="95"/>
              <a:t> </a:t>
            </a:r>
            <a:r>
              <a:rPr dirty="0" spc="-10"/>
              <a:t>Boston, </a:t>
            </a:r>
            <a:r>
              <a:rPr dirty="0"/>
              <a:t>MA,</a:t>
            </a:r>
            <a:r>
              <a:rPr dirty="0" spc="80"/>
              <a:t> </a:t>
            </a:r>
            <a:r>
              <a:rPr dirty="0"/>
              <a:t>USA:</a:t>
            </a:r>
            <a:r>
              <a:rPr dirty="0" spc="204"/>
              <a:t> </a:t>
            </a:r>
            <a:r>
              <a:rPr dirty="0"/>
              <a:t>Springer,</a:t>
            </a:r>
            <a:r>
              <a:rPr dirty="0" spc="170"/>
              <a:t> </a:t>
            </a:r>
            <a:r>
              <a:rPr dirty="0"/>
              <a:t>2011,</a:t>
            </a:r>
            <a:r>
              <a:rPr dirty="0" spc="204"/>
              <a:t> </a:t>
            </a:r>
            <a:r>
              <a:rPr dirty="0"/>
              <a:t>doi:</a:t>
            </a:r>
            <a:r>
              <a:rPr dirty="0" spc="114"/>
              <a:t> </a:t>
            </a:r>
            <a:r>
              <a:rPr dirty="0"/>
              <a:t>10.1007/978-0-387-85820-</a:t>
            </a:r>
            <a:r>
              <a:rPr dirty="0" spc="-25"/>
              <a:t>3.</a:t>
            </a:r>
          </a:p>
          <a:p>
            <a:pPr marL="355600" indent="-342900">
              <a:lnSpc>
                <a:spcPct val="100000"/>
              </a:lnSpc>
              <a:spcBef>
                <a:spcPts val="1165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55600" algn="l"/>
              </a:tabLst>
            </a:pPr>
            <a:r>
              <a:rPr dirty="0"/>
              <a:t>[2]</a:t>
            </a:r>
            <a:r>
              <a:rPr dirty="0" spc="100"/>
              <a:t> </a:t>
            </a:r>
            <a:r>
              <a:rPr dirty="0"/>
              <a:t>S.</a:t>
            </a:r>
            <a:r>
              <a:rPr dirty="0" spc="120"/>
              <a:t> </a:t>
            </a:r>
            <a:r>
              <a:rPr dirty="0"/>
              <a:t>Russell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95"/>
              <a:t> </a:t>
            </a:r>
            <a:r>
              <a:rPr dirty="0" spc="-45"/>
              <a:t>P.</a:t>
            </a:r>
            <a:r>
              <a:rPr dirty="0" spc="25"/>
              <a:t> </a:t>
            </a:r>
            <a:r>
              <a:rPr dirty="0"/>
              <a:t>Norvig,</a:t>
            </a:r>
            <a:r>
              <a:rPr dirty="0" spc="135"/>
              <a:t> </a:t>
            </a:r>
            <a:r>
              <a:rPr dirty="0" i="1">
                <a:latin typeface="Times New Roman"/>
                <a:cs typeface="Times New Roman"/>
              </a:rPr>
              <a:t>Artificial</a:t>
            </a:r>
            <a:r>
              <a:rPr dirty="0" spc="5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Intelligence:</a:t>
            </a:r>
            <a:r>
              <a:rPr dirty="0" spc="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</a:t>
            </a:r>
            <a:r>
              <a:rPr dirty="0" spc="3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Modern</a:t>
            </a:r>
            <a:r>
              <a:rPr dirty="0" spc="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Approach</a:t>
            </a:r>
            <a:r>
              <a:rPr dirty="0"/>
              <a:t>,</a:t>
            </a:r>
            <a:r>
              <a:rPr dirty="0" spc="120"/>
              <a:t> </a:t>
            </a:r>
            <a:r>
              <a:rPr dirty="0"/>
              <a:t>3rd</a:t>
            </a:r>
            <a:r>
              <a:rPr dirty="0" spc="100"/>
              <a:t> </a:t>
            </a:r>
            <a:r>
              <a:rPr dirty="0" spc="-25"/>
              <a:t>ed.</a:t>
            </a:r>
          </a:p>
          <a:p>
            <a:pPr marL="355600">
              <a:lnSpc>
                <a:spcPct val="100000"/>
              </a:lnSpc>
              <a:spcBef>
                <a:spcPts val="35"/>
              </a:spcBef>
            </a:pPr>
            <a:r>
              <a:rPr dirty="0"/>
              <a:t>Upper</a:t>
            </a:r>
            <a:r>
              <a:rPr dirty="0" spc="80"/>
              <a:t> </a:t>
            </a:r>
            <a:r>
              <a:rPr dirty="0"/>
              <a:t>Saddle</a:t>
            </a:r>
            <a:r>
              <a:rPr dirty="0" spc="105"/>
              <a:t> </a:t>
            </a:r>
            <a:r>
              <a:rPr dirty="0"/>
              <a:t>River,</a:t>
            </a:r>
            <a:r>
              <a:rPr dirty="0" spc="90"/>
              <a:t> </a:t>
            </a:r>
            <a:r>
              <a:rPr dirty="0"/>
              <a:t>NJ,</a:t>
            </a:r>
            <a:r>
              <a:rPr dirty="0" spc="10"/>
              <a:t> </a:t>
            </a:r>
            <a:r>
              <a:rPr dirty="0"/>
              <a:t>USA:</a:t>
            </a:r>
            <a:r>
              <a:rPr dirty="0" spc="110"/>
              <a:t> </a:t>
            </a:r>
            <a:r>
              <a:rPr dirty="0"/>
              <a:t>Prentice</a:t>
            </a:r>
            <a:r>
              <a:rPr dirty="0" spc="100"/>
              <a:t> </a:t>
            </a:r>
            <a:r>
              <a:rPr dirty="0"/>
              <a:t>Hall,</a:t>
            </a:r>
            <a:r>
              <a:rPr dirty="0" spc="90"/>
              <a:t> </a:t>
            </a:r>
            <a:r>
              <a:rPr dirty="0" spc="-10"/>
              <a:t>2010.</a:t>
            </a:r>
          </a:p>
          <a:p>
            <a:pPr marL="355600" indent="-34290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55600" algn="l"/>
              </a:tabLst>
            </a:pPr>
            <a:r>
              <a:rPr dirty="0"/>
              <a:t>[3]</a:t>
            </a:r>
            <a:r>
              <a:rPr dirty="0" spc="-5"/>
              <a:t> </a:t>
            </a:r>
            <a:r>
              <a:rPr dirty="0"/>
              <a:t>A.</a:t>
            </a:r>
            <a:r>
              <a:rPr dirty="0" spc="85"/>
              <a:t> </a:t>
            </a:r>
            <a:r>
              <a:rPr dirty="0"/>
              <a:t>K.</a:t>
            </a:r>
            <a:r>
              <a:rPr dirty="0" spc="80"/>
              <a:t> </a:t>
            </a:r>
            <a:r>
              <a:rPr dirty="0"/>
              <a:t>Suri</a:t>
            </a:r>
            <a:r>
              <a:rPr dirty="0" spc="30"/>
              <a:t> </a:t>
            </a:r>
            <a:r>
              <a:rPr dirty="0"/>
              <a:t>and</a:t>
            </a:r>
            <a:r>
              <a:rPr dirty="0" spc="65"/>
              <a:t> </a:t>
            </a:r>
            <a:r>
              <a:rPr dirty="0"/>
              <a:t>R.</a:t>
            </a:r>
            <a:r>
              <a:rPr dirty="0" spc="90"/>
              <a:t> </a:t>
            </a:r>
            <a:r>
              <a:rPr dirty="0"/>
              <a:t>Bhatnagar,</a:t>
            </a:r>
            <a:r>
              <a:rPr dirty="0" spc="85"/>
              <a:t> </a:t>
            </a:r>
            <a:r>
              <a:rPr dirty="0"/>
              <a:t>“A</a:t>
            </a:r>
            <a:r>
              <a:rPr dirty="0" spc="-60"/>
              <a:t> </a:t>
            </a:r>
            <a:r>
              <a:rPr dirty="0"/>
              <a:t>Survey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80"/>
              <a:t> </a:t>
            </a:r>
            <a:r>
              <a:rPr dirty="0"/>
              <a:t>Educational</a:t>
            </a:r>
            <a:r>
              <a:rPr dirty="0" spc="30"/>
              <a:t> </a:t>
            </a:r>
            <a:r>
              <a:rPr dirty="0"/>
              <a:t>Data</a:t>
            </a:r>
            <a:r>
              <a:rPr dirty="0" spc="105"/>
              <a:t> </a:t>
            </a:r>
            <a:r>
              <a:rPr dirty="0" spc="-10"/>
              <a:t>Mining,”</a:t>
            </a: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i="1">
                <a:latin typeface="Times New Roman"/>
                <a:cs typeface="Times New Roman"/>
              </a:rPr>
              <a:t>International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Journal</a:t>
            </a:r>
            <a:r>
              <a:rPr dirty="0" spc="114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of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Computer</a:t>
            </a:r>
            <a:r>
              <a:rPr dirty="0" spc="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Applications</a:t>
            </a:r>
            <a:r>
              <a:rPr dirty="0"/>
              <a:t>,</a:t>
            </a:r>
            <a:r>
              <a:rPr dirty="0" spc="85"/>
              <a:t> </a:t>
            </a:r>
            <a:r>
              <a:rPr dirty="0"/>
              <a:t>vol.</a:t>
            </a:r>
            <a:r>
              <a:rPr dirty="0" spc="90"/>
              <a:t> </a:t>
            </a:r>
            <a:r>
              <a:rPr dirty="0"/>
              <a:t>97,</a:t>
            </a:r>
            <a:r>
              <a:rPr dirty="0" spc="85"/>
              <a:t> </a:t>
            </a:r>
            <a:r>
              <a:rPr dirty="0"/>
              <a:t>no.</a:t>
            </a:r>
            <a:r>
              <a:rPr dirty="0" spc="85"/>
              <a:t> </a:t>
            </a:r>
            <a:r>
              <a:rPr dirty="0"/>
              <a:t>13,</a:t>
            </a:r>
            <a:r>
              <a:rPr dirty="0" spc="85"/>
              <a:t> </a:t>
            </a:r>
            <a:r>
              <a:rPr dirty="0"/>
              <a:t>pp.</a:t>
            </a:r>
            <a:r>
              <a:rPr dirty="0" spc="90"/>
              <a:t> </a:t>
            </a:r>
            <a:r>
              <a:rPr dirty="0"/>
              <a:t>33–38,</a:t>
            </a:r>
            <a:r>
              <a:rPr dirty="0" spc="95"/>
              <a:t> </a:t>
            </a:r>
            <a:r>
              <a:rPr dirty="0" spc="-10"/>
              <a:t>2014.</a:t>
            </a:r>
          </a:p>
          <a:p>
            <a:pPr marL="355600" indent="-342900">
              <a:lnSpc>
                <a:spcPct val="100000"/>
              </a:lnSpc>
              <a:spcBef>
                <a:spcPts val="1160"/>
              </a:spcBef>
              <a:buClr>
                <a:srgbClr val="5FCAEE"/>
              </a:buClr>
              <a:buSzPct val="81081"/>
              <a:buFont typeface="Arial MT"/>
              <a:buChar char="•"/>
              <a:tabLst>
                <a:tab pos="355600" algn="l"/>
              </a:tabLst>
            </a:pPr>
            <a:r>
              <a:rPr dirty="0"/>
              <a:t>[4]</a:t>
            </a:r>
            <a:r>
              <a:rPr dirty="0" spc="135"/>
              <a:t> </a:t>
            </a:r>
            <a:r>
              <a:rPr dirty="0"/>
              <a:t>United</a:t>
            </a:r>
            <a:r>
              <a:rPr dirty="0" spc="125"/>
              <a:t> </a:t>
            </a:r>
            <a:r>
              <a:rPr dirty="0"/>
              <a:t>Nations,</a:t>
            </a:r>
            <a:r>
              <a:rPr dirty="0" spc="60"/>
              <a:t> </a:t>
            </a:r>
            <a:r>
              <a:rPr dirty="0"/>
              <a:t>“Sustainable</a:t>
            </a:r>
            <a:r>
              <a:rPr dirty="0" spc="70"/>
              <a:t> </a:t>
            </a:r>
            <a:r>
              <a:rPr dirty="0"/>
              <a:t>Development</a:t>
            </a:r>
            <a:r>
              <a:rPr dirty="0" spc="90"/>
              <a:t> </a:t>
            </a:r>
            <a:r>
              <a:rPr dirty="0"/>
              <a:t>Goal</a:t>
            </a:r>
            <a:r>
              <a:rPr dirty="0" spc="90"/>
              <a:t> </a:t>
            </a:r>
            <a:r>
              <a:rPr dirty="0"/>
              <a:t>4:</a:t>
            </a:r>
            <a:r>
              <a:rPr dirty="0" spc="90"/>
              <a:t> </a:t>
            </a:r>
            <a:r>
              <a:rPr dirty="0"/>
              <a:t>Quality</a:t>
            </a:r>
            <a:r>
              <a:rPr dirty="0" spc="130"/>
              <a:t> </a:t>
            </a:r>
            <a:r>
              <a:rPr dirty="0"/>
              <a:t>Education,”</a:t>
            </a:r>
            <a:r>
              <a:rPr dirty="0" spc="165"/>
              <a:t> </a:t>
            </a:r>
            <a:r>
              <a:rPr dirty="0" spc="-10"/>
              <a:t>United</a:t>
            </a: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dirty="0"/>
              <a:t>Nations,</a:t>
            </a:r>
            <a:r>
              <a:rPr dirty="0" spc="60"/>
              <a:t> </a:t>
            </a:r>
            <a:r>
              <a:rPr dirty="0"/>
              <a:t>2015.</a:t>
            </a:r>
            <a:r>
              <a:rPr dirty="0" spc="150"/>
              <a:t> </a:t>
            </a:r>
            <a:r>
              <a:rPr dirty="0" spc="-10"/>
              <a:t>[Online].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0"/>
              <a:t>.</a:t>
            </a: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8125" y="3532334"/>
            <a:ext cx="3091797" cy="3889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615054" y="3359467"/>
            <a:ext cx="313753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/>
              <a:t>Thank</a:t>
            </a:r>
            <a:r>
              <a:rPr dirty="0" sz="3950" spc="-145"/>
              <a:t> </a:t>
            </a:r>
            <a:r>
              <a:rPr dirty="0" sz="3950" spc="-25"/>
              <a:t>You...!!</a:t>
            </a:r>
            <a:endParaRPr sz="3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2026-04-13T15:30:15Z</dcterms:created>
  <dcterms:modified xsi:type="dcterms:W3CDTF">2026-04-13T15:30:15Z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2026-04-09T00:00:00Z</vt:filetime>
  </property>
  <property fmtid="{D5CDD505-2E9C-101B-9397-08002B2CF9AE}" pid="4" name="LastSaved">
    <vt:filetime>2026-04-13T00:00:00Z</vt:filetime>
  </property>
</Properties>
</file>